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1-2</c:v>
                  </c:pt>
                  <c:pt idx="1">
                    <c:v>2-3</c:v>
                  </c:pt>
                  <c:pt idx="2">
                    <c:v>3-4</c:v>
                  </c:pt>
                  <c:pt idx="3">
                    <c:v>4-5</c:v>
                  </c:pt>
                  <c:pt idx="4">
                    <c:v>5-6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1200</c:v>
                </c:pt>
                <c:pt idx="1">
                  <c:v>15000</c:v>
                </c:pt>
                <c:pt idx="2">
                  <c:v>28000</c:v>
                </c:pt>
                <c:pt idx="3">
                  <c:v>42000</c:v>
                </c:pt>
                <c:pt idx="4">
                  <c:v>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0-1</c:v>
                  </c:pt>
                  <c:pt idx="1">
                    <c:v>1-2</c:v>
                  </c:pt>
                  <c:pt idx="2">
                    <c:v>2-3</c:v>
                  </c:pt>
                  <c:pt idx="3">
                    <c:v>3-4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3200</c:v>
                </c:pt>
                <c:pt idx="1">
                  <c:v>12000</c:v>
                </c:pt>
                <c:pt idx="2">
                  <c:v>48000</c:v>
                </c:pt>
                <c:pt idx="3">
                  <c:v>22000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0-2</c:v>
                  </c:pt>
                  <c:pt idx="1">
                    <c:v>2-3</c:v>
                  </c:pt>
                  <c:pt idx="2">
                    <c:v>3-4</c:v>
                  </c:pt>
                  <c:pt idx="3">
                    <c:v>4-5</c:v>
                  </c:pt>
                  <c:pt idx="4">
                    <c:v>5-6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4800</c:v>
                </c:pt>
                <c:pt idx="1">
                  <c:v>8200</c:v>
                </c:pt>
                <c:pt idx="2">
                  <c:v>16000</c:v>
                </c:pt>
                <c:pt idx="3">
                  <c:v>42000</c:v>
                </c:pt>
                <c:pt idx="4">
                  <c:v>26000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8FAD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delivered</c:v>
                  </c:pt>
                  <c:pt idx="1">
                    <c:v>shipped</c:v>
                  </c:pt>
                  <c:pt idx="2">
                    <c:v>cancelled</c:v>
                  </c:pt>
                  <c:pt idx="3">
                    <c:v>invoiced</c:v>
                  </c:pt>
                  <c:pt idx="4">
                    <c:v>processing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113201</c:v>
                </c:pt>
                <c:pt idx="1">
                  <c:v>1138</c:v>
                </c:pt>
                <c:pt idx="2">
                  <c:v>536</c:v>
                </c:pt>
                <c:pt idx="3">
                  <c:v>358</c:v>
                </c:pt>
                <c:pt idx="4">
                  <c:v>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bubble3D val="0"/>
            <c:spPr>
              <a:solidFill>
                <a:srgbClr val="00695C"/>
              </a:solidFill>
              <a:effectLst/>
            </c:spPr>
          </c:dPt>
          <c:dPt>
            <c:idx val="3"/>
            <c:bubble3D val="0"/>
            <c:spPr>
              <a:solidFill>
                <a:srgbClr val="6A1B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credit_card</c:v>
                </c:pt>
                <c:pt idx="1">
                  <c:v>boleto</c:v>
                </c:pt>
                <c:pt idx="2">
                  <c:v>voucher</c:v>
                </c:pt>
                <c:pt idx="3">
                  <c:v>debit_card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85270</c:v>
                </c:pt>
                <c:pt idx="1">
                  <c:v>22510</c:v>
                </c:pt>
                <c:pt idx="2">
                  <c:v>6162</c:v>
                </c:pt>
                <c:pt idx="3">
                  <c:v>1658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rgbClr val="1A2F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bed_bath_table</c:v>
                  </c:pt>
                  <c:pt idx="1">
                    <c:v>health_beauty</c:v>
                  </c:pt>
                  <c:pt idx="2">
                    <c:v>sports_leisure</c:v>
                  </c:pt>
                  <c:pt idx="3">
                    <c:v>furniture_decor</c:v>
                  </c:pt>
                  <c:pt idx="4">
                    <c:v>computers_acc</c:v>
                  </c:pt>
                  <c:pt idx="5">
                    <c:v>housewares</c:v>
                  </c:pt>
                  <c:pt idx="6">
                    <c:v>watches_gifts</c:v>
                  </c:pt>
                  <c:pt idx="7">
                    <c:v>telephony</c:v>
                  </c:pt>
                  <c:pt idx="8">
                    <c:v>garden_tools</c:v>
                  </c:pt>
                  <c:pt idx="9">
                    <c:v>auto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11847</c:v>
                </c:pt>
                <c:pt idx="1">
                  <c:v>9944</c:v>
                </c:pt>
                <c:pt idx="2">
                  <c:v>8941</c:v>
                </c:pt>
                <c:pt idx="3">
                  <c:v>8743</c:v>
                </c:pt>
                <c:pt idx="4">
                  <c:v>8104</c:v>
                </c:pt>
                <c:pt idx="5">
                  <c:v>7331</c:v>
                </c:pt>
                <c:pt idx="6">
                  <c:v>6159</c:v>
                </c:pt>
                <c:pt idx="7">
                  <c:v>4692</c:v>
                </c:pt>
                <c:pt idx="8">
                  <c:v>4558</c:v>
                </c:pt>
                <c:pt idx="9">
                  <c:v>4355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sao paulo</c:v>
                  </c:pt>
                  <c:pt idx="1">
                    <c:v>rio de janeiro</c:v>
                  </c:pt>
                  <c:pt idx="2">
                    <c:v>belo horizonte</c:v>
                  </c:pt>
                  <c:pt idx="3">
                    <c:v>brasilia</c:v>
                  </c:pt>
                  <c:pt idx="4">
                    <c:v>curitiba</c:v>
                  </c:pt>
                  <c:pt idx="5">
                    <c:v>campinas</c:v>
                  </c:pt>
                  <c:pt idx="6">
                    <c:v>porto alegre</c:v>
                  </c:pt>
                  <c:pt idx="7">
                    <c:v>salvador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18267</c:v>
                </c:pt>
                <c:pt idx="1">
                  <c:v>8022</c:v>
                </c:pt>
                <c:pt idx="2">
                  <c:v>3196</c:v>
                </c:pt>
                <c:pt idx="3">
                  <c:v>2434</c:v>
                </c:pt>
                <c:pt idx="4">
                  <c:v>1790</c:v>
                </c:pt>
                <c:pt idx="5">
                  <c:v>1702</c:v>
                </c:pt>
                <c:pt idx="6">
                  <c:v>1630</c:v>
                </c:pt>
                <c:pt idx="7">
                  <c:v>1468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9301</c:v>
                </c:pt>
                <c:pt idx="1">
                  <c:v>9816</c:v>
                </c:pt>
                <c:pt idx="2">
                  <c:v>11489</c:v>
                </c:pt>
                <c:pt idx="3">
                  <c:v>10883</c:v>
                </c:pt>
                <c:pt idx="4">
                  <c:v>12426</c:v>
                </c:pt>
                <c:pt idx="5">
                  <c:v>11056</c:v>
                </c:pt>
                <c:pt idx="6">
                  <c:v>12012</c:v>
                </c:pt>
                <c:pt idx="7">
                  <c:v>12479</c:v>
                </c:pt>
                <c:pt idx="8">
                  <c:v>5018</c:v>
                </c:pt>
                <c:pt idx="9">
                  <c:v>5868</c:v>
                </c:pt>
                <c:pt idx="10">
                  <c:v>8880</c:v>
                </c:pt>
                <c:pt idx="11">
                  <c:v>6372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2016</c:v>
                  </c:pt>
                  <c:pt idx="1">
                    <c:v>2017</c:v>
                  </c:pt>
                  <c:pt idx="2">
                    <c:v>2018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381</c:v>
                </c:pt>
                <c:pt idx="1">
                  <c:v>52504</c:v>
                </c:pt>
                <c:pt idx="2">
                  <c:v>62715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18769</c:v>
                </c:pt>
                <c:pt idx="1">
                  <c:v>18767</c:v>
                </c:pt>
                <c:pt idx="2">
                  <c:v>18031</c:v>
                </c:pt>
                <c:pt idx="3">
                  <c:v>17300</c:v>
                </c:pt>
                <c:pt idx="4">
                  <c:v>16531</c:v>
                </c:pt>
                <c:pt idx="5">
                  <c:v>12484</c:v>
                </c:pt>
                <c:pt idx="6">
                  <c:v>13718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E65100"/>
            </a:solidFill>
            <a:ln w="31750" cap="flat">
              <a:solidFill>
                <a:srgbClr val="E651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  <c:pt idx="10">
                    <c:v>20</c:v>
                  </c:pt>
                  <c:pt idx="11">
                    <c:v>22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2835</c:v>
                </c:pt>
                <c:pt idx="1">
                  <c:v>594</c:v>
                </c:pt>
                <c:pt idx="2">
                  <c:v>251</c:v>
                </c:pt>
                <c:pt idx="3">
                  <c:v>560</c:v>
                </c:pt>
                <c:pt idx="4">
                  <c:v>5513</c:v>
                </c:pt>
                <c:pt idx="5">
                  <c:v>7055</c:v>
                </c:pt>
                <c:pt idx="6">
                  <c:v>7776</c:v>
                </c:pt>
                <c:pt idx="7">
                  <c:v>7497</c:v>
                </c:pt>
                <c:pt idx="8">
                  <c:v>7834</c:v>
                </c:pt>
                <c:pt idx="9">
                  <c:v>7127</c:v>
                </c:pt>
                <c:pt idx="10">
                  <c:v>7103</c:v>
                </c:pt>
                <c:pt idx="11">
                  <c:v>4810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sentiment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bubble3D val="0"/>
            <c:spPr>
              <a:solidFill>
                <a:srgbClr val="E65100"/>
              </a:solidFill>
              <a:effectLst/>
            </c:spPr>
          </c:dPt>
          <c:dPt>
            <c:idx val="2"/>
            <c:bubble3D val="0"/>
            <c:spPr>
              <a:solidFill>
                <a:srgbClr val="C6282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Positive (44.2%)</c:v>
                </c:pt>
                <c:pt idx="1">
                  <c:v>Neutral (35.7%)</c:v>
                </c:pt>
                <c:pt idx="2">
                  <c:v>Negative (20.1%)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2212</c:v>
                </c:pt>
                <c:pt idx="1">
                  <c:v>1783</c:v>
                </c:pt>
                <c:pt idx="2">
                  <c:v>1005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1A2F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negative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bed_bath_table</c:v>
                  </c:pt>
                  <c:pt idx="1">
                    <c:v>computers_acc</c:v>
                  </c:pt>
                  <c:pt idx="2">
                    <c:v>health_beauty</c:v>
                  </c:pt>
                  <c:pt idx="3">
                    <c:v>furniture_decor</c:v>
                  </c:pt>
                  <c:pt idx="4">
                    <c:v>sports_leisure</c:v>
                  </c:pt>
                  <c:pt idx="5">
                    <c:v>housewares</c:v>
                  </c:pt>
                  <c:pt idx="6">
                    <c:v>watches_gifts</c:v>
                  </c:pt>
                  <c:pt idx="7">
                    <c:v>telephony</c:v>
                  </c:pt>
                  <c:pt idx="8">
                    <c:v>garden_tools</c:v>
                  </c:pt>
                  <c:pt idx="9">
                    <c:v>perfumery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104</c:v>
                </c:pt>
                <c:pt idx="1">
                  <c:v>89</c:v>
                </c:pt>
                <c:pt idx="2">
                  <c:v>81</c:v>
                </c:pt>
                <c:pt idx="3">
                  <c:v>79</c:v>
                </c:pt>
                <c:pt idx="4">
                  <c:v>69</c:v>
                </c:pt>
                <c:pt idx="5">
                  <c:v>59</c:v>
                </c:pt>
                <c:pt idx="6">
                  <c:v>53</c:v>
                </c:pt>
                <c:pt idx="7">
                  <c:v>49</c:v>
                </c:pt>
                <c:pt idx="8">
                  <c:v>46</c:v>
                </c:pt>
                <c:pt idx="9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1E88E5"/>
            </a:solidFill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39</c:v>
                </c:pt>
                <c:pt idx="1">
                  <c:v>75</c:v>
                </c:pt>
                <c:pt idx="2">
                  <c:v>100</c:v>
                </c:pt>
                <c:pt idx="3">
                  <c:v>50</c:v>
                </c:pt>
                <c:pt idx="4">
                  <c:v>200</c:v>
                </c:pt>
                <c:pt idx="5">
                  <c:v>150</c:v>
                </c:pt>
                <c:pt idx="6">
                  <c:v>300</c:v>
                </c:pt>
                <c:pt idx="7">
                  <c:v>80</c:v>
                </c:pt>
                <c:pt idx="8">
                  <c:v>120</c:v>
                </c:pt>
                <c:pt idx="9">
                  <c:v>60</c:v>
                </c:pt>
                <c:pt idx="10">
                  <c:v>400</c:v>
                </c:pt>
                <c:pt idx="11">
                  <c:v>250</c:v>
                </c:pt>
                <c:pt idx="12">
                  <c:v>180</c:v>
                </c:pt>
                <c:pt idx="13">
                  <c:v>90</c:v>
                </c:pt>
                <c:pt idx="14">
                  <c:v>500</c:v>
                </c:pt>
                <c:pt idx="15">
                  <c:v>350</c:v>
                </c:pt>
                <c:pt idx="16">
                  <c:v>130</c:v>
                </c:pt>
                <c:pt idx="17">
                  <c:v>70</c:v>
                </c:pt>
                <c:pt idx="18">
                  <c:v>220</c:v>
                </c:pt>
                <c:pt idx="19">
                  <c:v>160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12</c:v>
                </c:pt>
                <c:pt idx="1">
                  <c:v>18</c:v>
                </c:pt>
                <c:pt idx="2">
                  <c:v>22</c:v>
                </c:pt>
                <c:pt idx="3">
                  <c:v>15</c:v>
                </c:pt>
                <c:pt idx="4">
                  <c:v>35</c:v>
                </c:pt>
                <c:pt idx="5">
                  <c:v>28</c:v>
                </c:pt>
                <c:pt idx="6">
                  <c:v>45</c:v>
                </c:pt>
                <c:pt idx="7">
                  <c:v>17</c:v>
                </c:pt>
                <c:pt idx="8">
                  <c:v>25</c:v>
                </c:pt>
                <c:pt idx="9">
                  <c:v>14</c:v>
                </c:pt>
                <c:pt idx="10">
                  <c:v>55</c:v>
                </c:pt>
                <c:pt idx="11">
                  <c:v>38</c:v>
                </c:pt>
                <c:pt idx="12">
                  <c:v>30</c:v>
                </c:pt>
                <c:pt idx="13">
                  <c:v>19</c:v>
                </c:pt>
                <c:pt idx="14">
                  <c:v>65</c:v>
                </c:pt>
                <c:pt idx="15">
                  <c:v>48</c:v>
                </c:pt>
                <c:pt idx="16">
                  <c:v>27</c:v>
                </c:pt>
                <c:pt idx="17">
                  <c:v>16</c:v>
                </c:pt>
                <c:pt idx="18">
                  <c:v>36</c:v>
                </c:pt>
                <c:pt idx="19">
                  <c:v>31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1E88E5"/>
            </a:solidFill>
            <a:ln w="25400" cap="flat">
              <a:solidFill>
                <a:srgbClr val="1E88E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8E5"/>
              </a:solidFill>
              <a:ln w="9525" cap="flat">
                <a:solidFill>
                  <a:srgbClr val="1E88E5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39</c:v>
                </c:pt>
                <c:pt idx="1">
                  <c:v>75</c:v>
                </c:pt>
                <c:pt idx="2">
                  <c:v>100</c:v>
                </c:pt>
                <c:pt idx="3">
                  <c:v>50</c:v>
                </c:pt>
                <c:pt idx="4">
                  <c:v>200</c:v>
                </c:pt>
                <c:pt idx="5">
                  <c:v>150</c:v>
                </c:pt>
                <c:pt idx="6">
                  <c:v>300</c:v>
                </c:pt>
                <c:pt idx="7">
                  <c:v>80</c:v>
                </c:pt>
                <c:pt idx="8">
                  <c:v>120</c:v>
                </c:pt>
                <c:pt idx="9">
                  <c:v>60</c:v>
                </c:pt>
                <c:pt idx="10">
                  <c:v>400</c:v>
                </c:pt>
                <c:pt idx="11">
                  <c:v>250</c:v>
                </c:pt>
                <c:pt idx="12">
                  <c:v>180</c:v>
                </c:pt>
                <c:pt idx="13">
                  <c:v>90</c:v>
                </c:pt>
                <c:pt idx="14">
                  <c:v>500</c:v>
                </c:pt>
                <c:pt idx="15">
                  <c:v>350</c:v>
                </c:pt>
                <c:pt idx="16">
                  <c:v>130</c:v>
                </c:pt>
                <c:pt idx="17">
                  <c:v>70</c:v>
                </c:pt>
                <c:pt idx="18">
                  <c:v>220</c:v>
                </c:pt>
                <c:pt idx="19">
                  <c:v>160</c:v>
                </c:pt>
              </c:numCache>
            </c:numRef>
          </c:xVal>
          <c:yVal>
            <c:numRef>
              <c:f>Sheet1!$C$2:$C$21</c:f>
              <c:numCache>
                <c:formatCode>General</c:formatCode>
                <c:ptCount val="20"/>
                <c:pt idx="0">
                  <c:v>11.535</c:v>
                </c:pt>
                <c:pt idx="1">
                  <c:v>13.875</c:v>
                </c:pt>
                <c:pt idx="2">
                  <c:v>15.5</c:v>
                </c:pt>
                <c:pt idx="3">
                  <c:v>12.25</c:v>
                </c:pt>
                <c:pt idx="4">
                  <c:v>22</c:v>
                </c:pt>
                <c:pt idx="5">
                  <c:v>18.75</c:v>
                </c:pt>
                <c:pt idx="6">
                  <c:v>28.5</c:v>
                </c:pt>
                <c:pt idx="7">
                  <c:v>14.2</c:v>
                </c:pt>
                <c:pt idx="8">
                  <c:v>16.8</c:v>
                </c:pt>
                <c:pt idx="9">
                  <c:v>12.9</c:v>
                </c:pt>
                <c:pt idx="10">
                  <c:v>35</c:v>
                </c:pt>
                <c:pt idx="11">
                  <c:v>25.25</c:v>
                </c:pt>
                <c:pt idx="12">
                  <c:v>20.700000000000003</c:v>
                </c:pt>
                <c:pt idx="13">
                  <c:v>14.850000000000001</c:v>
                </c:pt>
                <c:pt idx="14">
                  <c:v>41.5</c:v>
                </c:pt>
                <c:pt idx="15">
                  <c:v>31.75</c:v>
                </c:pt>
                <c:pt idx="16">
                  <c:v>17.450000000000003</c:v>
                </c:pt>
                <c:pt idx="17">
                  <c:v>13.55</c:v>
                </c:pt>
                <c:pt idx="18">
                  <c:v>23.3</c:v>
                </c:pt>
                <c:pt idx="19">
                  <c:v>19.4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500</c:v>
                </c:pt>
                <c:pt idx="1">
                  <c:v>1200</c:v>
                </c:pt>
                <c:pt idx="2">
                  <c:v>2000</c:v>
                </c:pt>
                <c:pt idx="3">
                  <c:v>800</c:v>
                </c:pt>
                <c:pt idx="4">
                  <c:v>3500</c:v>
                </c:pt>
                <c:pt idx="5">
                  <c:v>1800</c:v>
                </c:pt>
                <c:pt idx="6">
                  <c:v>5000</c:v>
                </c:pt>
                <c:pt idx="7">
                  <c:v>2500</c:v>
                </c:pt>
                <c:pt idx="8">
                  <c:v>4000</c:v>
                </c:pt>
                <c:pt idx="9">
                  <c:v>700</c:v>
                </c:pt>
                <c:pt idx="10">
                  <c:v>6000</c:v>
                </c:pt>
                <c:pt idx="11">
                  <c:v>3000</c:v>
                </c:pt>
                <c:pt idx="12">
                  <c:v>1500</c:v>
                </c:pt>
                <c:pt idx="13">
                  <c:v>900</c:v>
                </c:pt>
                <c:pt idx="14">
                  <c:v>7000</c:v>
                </c:pt>
                <c:pt idx="15">
                  <c:v>4500</c:v>
                </c:pt>
                <c:pt idx="16">
                  <c:v>2200</c:v>
                </c:pt>
                <c:pt idx="17">
                  <c:v>1100</c:v>
                </c:pt>
                <c:pt idx="18">
                  <c:v>3800</c:v>
                </c:pt>
                <c:pt idx="19">
                  <c:v>2800</c:v>
                </c:pt>
              </c:numCache>
            </c:numRef>
          </c:xVal>
          <c:yVal>
            <c:numRef>
              <c:f>Sheet1!$B$2:$B$21</c:f>
              <c:numCache>
                <c:formatCode>General</c:formatCode>
                <c:ptCount val="20"/>
                <c:pt idx="0">
                  <c:v>14</c:v>
                </c:pt>
                <c:pt idx="1">
                  <c:v>22</c:v>
                </c:pt>
                <c:pt idx="2">
                  <c:v>32</c:v>
                </c:pt>
                <c:pt idx="3">
                  <c:v>17</c:v>
                </c:pt>
                <c:pt idx="4">
                  <c:v>50</c:v>
                </c:pt>
                <c:pt idx="5">
                  <c:v>29</c:v>
                </c:pt>
                <c:pt idx="6">
                  <c:v>68</c:v>
                </c:pt>
                <c:pt idx="7">
                  <c:v>38</c:v>
                </c:pt>
                <c:pt idx="8">
                  <c:v>55</c:v>
                </c:pt>
                <c:pt idx="9">
                  <c:v>16</c:v>
                </c:pt>
                <c:pt idx="10">
                  <c:v>82</c:v>
                </c:pt>
                <c:pt idx="11">
                  <c:v>44</c:v>
                </c:pt>
                <c:pt idx="12">
                  <c:v>25</c:v>
                </c:pt>
                <c:pt idx="13">
                  <c:v>19</c:v>
                </c:pt>
                <c:pt idx="14">
                  <c:v>95</c:v>
                </c:pt>
                <c:pt idx="15">
                  <c:v>62</c:v>
                </c:pt>
                <c:pt idx="16">
                  <c:v>35</c:v>
                </c:pt>
                <c:pt idx="17">
                  <c:v>21</c:v>
                </c:pt>
                <c:pt idx="18">
                  <c:v>52</c:v>
                </c:pt>
                <c:pt idx="19">
                  <c:v>42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2E7D32"/>
            </a:solidFill>
            <a:ln w="25400" cap="flat">
              <a:solidFill>
                <a:srgbClr val="2E7D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7D32"/>
              </a:solidFill>
              <a:ln w="9525" cap="flat">
                <a:solidFill>
                  <a:srgbClr val="2E7D32"/>
                </a:solidFill>
                <a:prstDash val="solid"/>
                <a:round/>
              </a:ln>
              <a:effectLst/>
            </c:spPr>
          </c:marker>
          <c:xVal>
            <c:numRef>
              <c:f>Sheet1!$A$2:$A$21</c:f>
              <c:numCache>
                <c:formatCode>General</c:formatCode>
                <c:ptCount val="20"/>
                <c:pt idx="0">
                  <c:v>500</c:v>
                </c:pt>
                <c:pt idx="1">
                  <c:v>1200</c:v>
                </c:pt>
                <c:pt idx="2">
                  <c:v>2000</c:v>
                </c:pt>
                <c:pt idx="3">
                  <c:v>800</c:v>
                </c:pt>
                <c:pt idx="4">
                  <c:v>3500</c:v>
                </c:pt>
                <c:pt idx="5">
                  <c:v>1800</c:v>
                </c:pt>
                <c:pt idx="6">
                  <c:v>5000</c:v>
                </c:pt>
                <c:pt idx="7">
                  <c:v>2500</c:v>
                </c:pt>
                <c:pt idx="8">
                  <c:v>4000</c:v>
                </c:pt>
                <c:pt idx="9">
                  <c:v>700</c:v>
                </c:pt>
                <c:pt idx="10">
                  <c:v>6000</c:v>
                </c:pt>
                <c:pt idx="11">
                  <c:v>3000</c:v>
                </c:pt>
                <c:pt idx="12">
                  <c:v>1500</c:v>
                </c:pt>
                <c:pt idx="13">
                  <c:v>900</c:v>
                </c:pt>
                <c:pt idx="14">
                  <c:v>7000</c:v>
                </c:pt>
                <c:pt idx="15">
                  <c:v>4500</c:v>
                </c:pt>
                <c:pt idx="16">
                  <c:v>2200</c:v>
                </c:pt>
                <c:pt idx="17">
                  <c:v>1100</c:v>
                </c:pt>
                <c:pt idx="18">
                  <c:v>3800</c:v>
                </c:pt>
                <c:pt idx="19">
                  <c:v>2800</c:v>
                </c:pt>
              </c:numCache>
            </c:numRef>
          </c:xVal>
          <c:yVal>
            <c:numRef>
              <c:f>Sheet1!$C$2:$C$21</c:f>
              <c:numCache>
                <c:formatCode>General</c:formatCode>
                <c:ptCount val="20"/>
                <c:pt idx="0">
                  <c:v>15</c:v>
                </c:pt>
                <c:pt idx="1">
                  <c:v>23.4</c:v>
                </c:pt>
                <c:pt idx="2">
                  <c:v>33</c:v>
                </c:pt>
                <c:pt idx="3">
                  <c:v>18.6</c:v>
                </c:pt>
                <c:pt idx="4">
                  <c:v>51</c:v>
                </c:pt>
                <c:pt idx="5">
                  <c:v>30.6</c:v>
                </c:pt>
                <c:pt idx="6">
                  <c:v>69</c:v>
                </c:pt>
                <c:pt idx="7">
                  <c:v>39</c:v>
                </c:pt>
                <c:pt idx="8">
                  <c:v>57</c:v>
                </c:pt>
                <c:pt idx="9">
                  <c:v>17.4</c:v>
                </c:pt>
                <c:pt idx="10">
                  <c:v>81</c:v>
                </c:pt>
                <c:pt idx="11">
                  <c:v>45</c:v>
                </c:pt>
                <c:pt idx="12">
                  <c:v>27</c:v>
                </c:pt>
                <c:pt idx="13">
                  <c:v>19.8</c:v>
                </c:pt>
                <c:pt idx="14">
                  <c:v>93</c:v>
                </c:pt>
                <c:pt idx="15">
                  <c:v>63</c:v>
                </c:pt>
                <c:pt idx="16">
                  <c:v>35.400000000000006</c:v>
                </c:pt>
                <c:pt idx="17">
                  <c:v>22.200000000000003</c:v>
                </c:pt>
                <c:pt idx="18">
                  <c:v>54.6</c:v>
                </c:pt>
                <c:pt idx="19">
                  <c:v>42.6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95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A1B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credit_card</c:v>
                  </c:pt>
                  <c:pt idx="1">
                    <c:v>boleto</c:v>
                  </c:pt>
                  <c:pt idx="2">
                    <c:v>debit_card</c:v>
                  </c:pt>
                  <c:pt idx="3">
                    <c:v>voucher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179.32</c:v>
                </c:pt>
                <c:pt idx="1">
                  <c:v>176.9</c:v>
                </c:pt>
                <c:pt idx="2">
                  <c:v>150.26</c:v>
                </c:pt>
                <c:pt idx="3">
                  <c:v>64.39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computers</c:v>
                  </c:pt>
                  <c:pt idx="1">
                    <c:v>sm_appl_home</c:v>
                  </c:pt>
                  <c:pt idx="2">
                    <c:v>home_appl_2</c:v>
                  </c:pt>
                  <c:pt idx="3">
                    <c:v>agro_industry</c:v>
                  </c:pt>
                  <c:pt idx="4">
                    <c:v>musical_instr</c:v>
                  </c:pt>
                  <c:pt idx="5">
                    <c:v>small_appl</c:v>
                  </c:pt>
                  <c:pt idx="6">
                    <c:v>fixed_teleph</c:v>
                  </c:pt>
                  <c:pt idx="7">
                    <c:v>construction</c:v>
                  </c:pt>
                  <c:pt idx="8">
                    <c:v>watches_gifts</c:v>
                  </c:pt>
                  <c:pt idx="9">
                    <c:v>air_cond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1078.56</c:v>
                </c:pt>
                <c:pt idx="1">
                  <c:v>627.51</c:v>
                </c:pt>
                <c:pt idx="2">
                  <c:v>459.57</c:v>
                </c:pt>
                <c:pt idx="3">
                  <c:v>332.71</c:v>
                </c:pt>
                <c:pt idx="4">
                  <c:v>290.76</c:v>
                </c:pt>
                <c:pt idx="5">
                  <c:v>285.93</c:v>
                </c:pt>
                <c:pt idx="6">
                  <c:v>228.93</c:v>
                </c:pt>
                <c:pt idx="7">
                  <c:v>211.86</c:v>
                </c:pt>
                <c:pt idx="8">
                  <c:v>201.84</c:v>
                </c:pt>
                <c:pt idx="9">
                  <c:v>186.62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home_comfort_2</c:v>
                  </c:pt>
                  <c:pt idx="1">
                    <c:v>flowers</c:v>
                  </c:pt>
                  <c:pt idx="2">
                    <c:v>diapers</c:v>
                  </c:pt>
                  <c:pt idx="3">
                    <c:v>cds_dvds</c:v>
                  </c:pt>
                  <c:pt idx="4">
                    <c:v>christmas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26.23</c:v>
                </c:pt>
                <c:pt idx="1">
                  <c:v>32.27</c:v>
                </c:pt>
                <c:pt idx="2">
                  <c:v>37.7</c:v>
                </c:pt>
                <c:pt idx="3">
                  <c:v>52.14</c:v>
                </c:pt>
                <c:pt idx="4">
                  <c:v>54.84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cds_dvds</c:v>
                  </c:pt>
                  <c:pt idx="1">
                    <c:v>fashion_children</c:v>
                  </c:pt>
                  <c:pt idx="2">
                    <c:v>books_general</c:v>
                  </c:pt>
                  <c:pt idx="3">
                    <c:v>books_imported</c:v>
                  </c:pt>
                  <c:pt idx="4">
                    <c:v>flowers</c:v>
                  </c:pt>
                  <c:pt idx="5">
                    <c:v>construction</c:v>
                  </c:pt>
                  <c:pt idx="6">
                    <c:v>books_technical</c:v>
                  </c:pt>
                  <c:pt idx="7">
                    <c:v>food_drink</c:v>
                  </c:pt>
                  <c:pt idx="8">
                    <c:v>sm_appl_home</c:v>
                  </c:pt>
                  <c:pt idx="9">
                    <c:v>luggage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4.64</c:v>
                </c:pt>
                <c:pt idx="1">
                  <c:v>4.5</c:v>
                </c:pt>
                <c:pt idx="2">
                  <c:v>4.44</c:v>
                </c:pt>
                <c:pt idx="3">
                  <c:v>4.42</c:v>
                </c:pt>
                <c:pt idx="4">
                  <c:v>4.42</c:v>
                </c:pt>
                <c:pt idx="5">
                  <c:v>4.42</c:v>
                </c:pt>
                <c:pt idx="6">
                  <c:v>4.39</c:v>
                </c:pt>
                <c:pt idx="7">
                  <c:v>4.32</c:v>
                </c:pt>
                <c:pt idx="8">
                  <c:v>4.32</c:v>
                </c:pt>
                <c:pt idx="9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security_services</c:v>
                  </c:pt>
                  <c:pt idx="1">
                    <c:v>diapers</c:v>
                  </c:pt>
                  <c:pt idx="2">
                    <c:v>office_furniture</c:v>
                  </c:pt>
                  <c:pt idx="3">
                    <c:v>fashion_male</c:v>
                  </c:pt>
                  <c:pt idx="4">
                    <c:v>home_comfort_2</c:v>
                  </c:pt>
                  <c:pt idx="5">
                    <c:v>fixed_telephony</c:v>
                  </c:pt>
                  <c:pt idx="6">
                    <c:v>fashion_female</c:v>
                  </c:pt>
                  <c:pt idx="7">
                    <c:v>furniture_matt</c:v>
                  </c:pt>
                  <c:pt idx="8">
                    <c:v>audio</c:v>
                  </c:pt>
                  <c:pt idx="9">
                    <c:v>furniture_bedr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2.5</c:v>
                </c:pt>
                <c:pt idx="1">
                  <c:v>3.21</c:v>
                </c:pt>
                <c:pt idx="2">
                  <c:v>3.53</c:v>
                </c:pt>
                <c:pt idx="3">
                  <c:v>3.57</c:v>
                </c:pt>
                <c:pt idx="4">
                  <c:v>3.64</c:v>
                </c:pt>
                <c:pt idx="5">
                  <c:v>3.67</c:v>
                </c:pt>
                <c:pt idx="6">
                  <c:v>3.76</c:v>
                </c:pt>
                <c:pt idx="7">
                  <c:v>3.8</c:v>
                </c:pt>
                <c:pt idx="8">
                  <c:v>3.83</c:v>
                </c:pt>
                <c:pt idx="9">
                  <c:v>3.84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bed_bath_table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145061</c:v>
                </c:pt>
                <c:pt idx="1">
                  <c:v>122003</c:v>
                </c:pt>
                <c:pt idx="2">
                  <c:v>161784</c:v>
                </c:pt>
                <c:pt idx="3">
                  <c:v>160921</c:v>
                </c:pt>
                <c:pt idx="4">
                  <c:v>166999</c:v>
                </c:pt>
                <c:pt idx="5">
                  <c:v>168173</c:v>
                </c:pt>
                <c:pt idx="6">
                  <c:v>199949</c:v>
                </c:pt>
                <c:pt idx="7">
                  <c:v>185550</c:v>
                </c:pt>
                <c:pt idx="8">
                  <c:v>83579</c:v>
                </c:pt>
                <c:pt idx="9">
                  <c:v>97537</c:v>
                </c:pt>
                <c:pt idx="10">
                  <c:v>150917</c:v>
                </c:pt>
                <c:pt idx="11">
                  <c:v>80702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health_beauty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107115</c:v>
                </c:pt>
                <c:pt idx="1">
                  <c:v>141234</c:v>
                </c:pt>
                <c:pt idx="2">
                  <c:v>145597</c:v>
                </c:pt>
                <c:pt idx="3">
                  <c:v>148555</c:v>
                </c:pt>
                <c:pt idx="4">
                  <c:v>197464</c:v>
                </c:pt>
                <c:pt idx="5">
                  <c:v>187601</c:v>
                </c:pt>
                <c:pt idx="6">
                  <c:v>194733</c:v>
                </c:pt>
                <c:pt idx="7">
                  <c:v>218698</c:v>
                </c:pt>
                <c:pt idx="8">
                  <c:v>67256</c:v>
                </c:pt>
                <c:pt idx="9">
                  <c:v>53934</c:v>
                </c:pt>
                <c:pt idx="10">
                  <c:v>101798</c:v>
                </c:pt>
                <c:pt idx="11">
                  <c:v>76385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computers_acc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156392</c:v>
                </c:pt>
                <c:pt idx="1">
                  <c:v>226973</c:v>
                </c:pt>
                <c:pt idx="2">
                  <c:v>182883</c:v>
                </c:pt>
                <c:pt idx="3">
                  <c:v>116894</c:v>
                </c:pt>
                <c:pt idx="4">
                  <c:v>181078</c:v>
                </c:pt>
                <c:pt idx="5">
                  <c:v>128787</c:v>
                </c:pt>
                <c:pt idx="6">
                  <c:v>133927</c:v>
                </c:pt>
                <c:pt idx="7">
                  <c:v>123804</c:v>
                </c:pt>
                <c:pt idx="8">
                  <c:v>61235</c:v>
                </c:pt>
                <c:pt idx="9">
                  <c:v>88081</c:v>
                </c:pt>
                <c:pt idx="10">
                  <c:v>134642</c:v>
                </c:pt>
                <c:pt idx="11">
                  <c:v>55397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sports_leisure</c:v>
                </c:pt>
              </c:strCache>
            </c:strRef>
          </c:tx>
          <c:spPr>
            <a:solidFill>
              <a:srgbClr val="6A1B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142756</c:v>
                </c:pt>
                <c:pt idx="1">
                  <c:v>126316</c:v>
                </c:pt>
                <c:pt idx="2">
                  <c:v>158910</c:v>
                </c:pt>
                <c:pt idx="3">
                  <c:v>132436</c:v>
                </c:pt>
                <c:pt idx="4">
                  <c:v>131597</c:v>
                </c:pt>
                <c:pt idx="5">
                  <c:v>112544</c:v>
                </c:pt>
                <c:pt idx="6">
                  <c:v>140837</c:v>
                </c:pt>
                <c:pt idx="7">
                  <c:v>126972</c:v>
                </c:pt>
                <c:pt idx="8">
                  <c:v>73966</c:v>
                </c:pt>
                <c:pt idx="9">
                  <c:v>66410</c:v>
                </c:pt>
                <c:pt idx="10">
                  <c:v>89358</c:v>
                </c:pt>
                <c:pt idx="11">
                  <c:v>84360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furniture_decor</c:v>
                </c:pt>
              </c:strCache>
            </c:strRef>
          </c:tx>
          <c:spPr>
            <a:solidFill>
              <a:srgbClr val="0069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129816</c:v>
                </c:pt>
                <c:pt idx="1">
                  <c:v>100228</c:v>
                </c:pt>
                <c:pt idx="2">
                  <c:v>167799</c:v>
                </c:pt>
                <c:pt idx="3">
                  <c:v>143436</c:v>
                </c:pt>
                <c:pt idx="4">
                  <c:v>142864</c:v>
                </c:pt>
                <c:pt idx="5">
                  <c:v>114361</c:v>
                </c:pt>
                <c:pt idx="6">
                  <c:v>134634</c:v>
                </c:pt>
                <c:pt idx="7">
                  <c:v>151816</c:v>
                </c:pt>
                <c:pt idx="8">
                  <c:v>53410</c:v>
                </c:pt>
                <c:pt idx="9">
                  <c:v>66169</c:v>
                </c:pt>
                <c:pt idx="10">
                  <c:v>154954</c:v>
                </c:pt>
                <c:pt idx="11">
                  <c:v>56199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F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On Time (92%)</c:v>
                  </c:pt>
                  <c:pt idx="1">
                    <c:v>Delayed (8%)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104160</c:v>
                </c:pt>
                <c:pt idx="1">
                  <c:v>8713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On Time</c:v>
                  </c:pt>
                  <c:pt idx="1">
                    <c:v>Delayed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Low Installments</c:v>
                  </c:pt>
                  <c:pt idx="1">
                    <c:v>High Installments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70822</c:v>
                </c:pt>
                <c:pt idx="1">
                  <c:v>44397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E88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88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565C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Low Installments</c:v>
                  </c:pt>
                  <c:pt idx="1">
                    <c:v>High Installments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143</c:v>
                </c:pt>
                <c:pt idx="1">
                  <c:v>247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Slowest States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RR</c:v>
                  </c:pt>
                  <c:pt idx="1">
                    <c:v>AP</c:v>
                  </c:pt>
                  <c:pt idx="2">
                    <c:v>AM</c:v>
                  </c:pt>
                  <c:pt idx="3">
                    <c:v>AL</c:v>
                  </c:pt>
                  <c:pt idx="4">
                    <c:v>PA</c:v>
                  </c:pt>
                  <c:pt idx="5">
                    <c:v>MA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28.3</c:v>
                </c:pt>
                <c:pt idx="1">
                  <c:v>27.6</c:v>
                </c:pt>
                <c:pt idx="2">
                  <c:v>26</c:v>
                </c:pt>
                <c:pt idx="3">
                  <c:v>24</c:v>
                </c:pt>
                <c:pt idx="4">
                  <c:v>23</c:v>
                </c:pt>
                <c:pt idx="5">
                  <c:v>21.1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Fastest States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2F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</c:v>
                  </c:pt>
                  <c:pt idx="1">
                    <c:v>PR</c:v>
                  </c:pt>
                  <c:pt idx="2">
                    <c:v>MG</c:v>
                  </c:pt>
                  <c:pt idx="3">
                    <c:v>DF</c:v>
                  </c:pt>
                  <c:pt idx="4">
                    <c:v>SC</c:v>
                  </c:pt>
                  <c:pt idx="5">
                    <c:v>RS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8.2</c:v>
                </c:pt>
                <c:pt idx="1">
                  <c:v>11.5</c:v>
                </c:pt>
                <c:pt idx="2">
                  <c:v>11.5</c:v>
                </c:pt>
                <c:pt idx="3">
                  <c:v>12.5</c:v>
                </c:pt>
                <c:pt idx="4">
                  <c:v>14.4</c:v>
                </c:pt>
                <c:pt idx="5">
                  <c:v>14.7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2F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1A2F5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States</c:v>
                </c:pt>
              </c:strCache>
            </c:strRef>
          </c:tx>
          <c:spPr>
            <a:solidFill>
              <a:srgbClr val="E65100"/>
            </a:solidFill>
            <a:ln w="1905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28.3</c:v>
                </c:pt>
                <c:pt idx="1">
                  <c:v>27.6</c:v>
                </c:pt>
                <c:pt idx="2">
                  <c:v>26</c:v>
                </c:pt>
                <c:pt idx="3">
                  <c:v>24</c:v>
                </c:pt>
                <c:pt idx="4">
                  <c:v>23</c:v>
                </c:pt>
                <c:pt idx="5">
                  <c:v>21.1</c:v>
                </c:pt>
                <c:pt idx="6">
                  <c:v>20.7</c:v>
                </c:pt>
                <c:pt idx="7">
                  <c:v>20.2</c:v>
                </c:pt>
                <c:pt idx="8">
                  <c:v>8.2</c:v>
                </c:pt>
                <c:pt idx="9">
                  <c:v>11.5</c:v>
                </c:pt>
                <c:pt idx="10">
                  <c:v>11.5</c:v>
                </c:pt>
                <c:pt idx="11">
                  <c:v>12.5</c:v>
                </c:pt>
                <c:pt idx="12">
                  <c:v>14.4</c:v>
                </c:pt>
                <c:pt idx="13">
                  <c:v>14.7</c:v>
                </c:pt>
                <c:pt idx="14">
                  <c:v>15.1</c:v>
                </c:pt>
              </c:numCache>
            </c:numRef>
          </c:xVal>
          <c:yVal>
            <c:numRef>
              <c:f>Sheet1!$B$2:$B$16</c:f>
              <c:numCache>
                <c:formatCode>General</c:formatCode>
                <c:ptCount val="15"/>
                <c:pt idx="0">
                  <c:v>3.85</c:v>
                </c:pt>
                <c:pt idx="1">
                  <c:v>4.28</c:v>
                </c:pt>
                <c:pt idx="2">
                  <c:v>4.1</c:v>
                </c:pt>
                <c:pt idx="3">
                  <c:v>3.9</c:v>
                </c:pt>
                <c:pt idx="4">
                  <c:v>4.08</c:v>
                </c:pt>
                <c:pt idx="5">
                  <c:v>3.75</c:v>
                </c:pt>
                <c:pt idx="6">
                  <c:v>3.88</c:v>
                </c:pt>
                <c:pt idx="7">
                  <c:v>3.88</c:v>
                </c:pt>
                <c:pt idx="8">
                  <c:v>4.19</c:v>
                </c:pt>
                <c:pt idx="9">
                  <c:v>4.12</c:v>
                </c:pt>
                <c:pt idx="10">
                  <c:v>4.12</c:v>
                </c:pt>
                <c:pt idx="11">
                  <c:v>4.05</c:v>
                </c:pt>
                <c:pt idx="12">
                  <c:v>4.1</c:v>
                </c:pt>
                <c:pt idx="13">
                  <c:v>4.1</c:v>
                </c:pt>
                <c:pt idx="14">
                  <c:v>4.1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Trend</c:v>
                </c:pt>
              </c:strCache>
            </c:strRef>
          </c:tx>
          <c:spPr>
            <a:solidFill>
              <a:srgbClr val="E65100"/>
            </a:solidFill>
            <a:ln w="1905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xVal>
            <c:numRef>
              <c:f>Sheet1!$A$2:$A$16</c:f>
              <c:numCache>
                <c:formatCode>General</c:formatCode>
                <c:ptCount val="15"/>
                <c:pt idx="0">
                  <c:v>28.3</c:v>
                </c:pt>
                <c:pt idx="1">
                  <c:v>27.6</c:v>
                </c:pt>
                <c:pt idx="2">
                  <c:v>26</c:v>
                </c:pt>
                <c:pt idx="3">
                  <c:v>24</c:v>
                </c:pt>
                <c:pt idx="4">
                  <c:v>23</c:v>
                </c:pt>
                <c:pt idx="5">
                  <c:v>21.1</c:v>
                </c:pt>
                <c:pt idx="6">
                  <c:v>20.7</c:v>
                </c:pt>
                <c:pt idx="7">
                  <c:v>20.2</c:v>
                </c:pt>
                <c:pt idx="8">
                  <c:v>8.2</c:v>
                </c:pt>
                <c:pt idx="9">
                  <c:v>11.5</c:v>
                </c:pt>
                <c:pt idx="10">
                  <c:v>11.5</c:v>
                </c:pt>
                <c:pt idx="11">
                  <c:v>12.5</c:v>
                </c:pt>
                <c:pt idx="12">
                  <c:v>14.4</c:v>
                </c:pt>
                <c:pt idx="13">
                  <c:v>14.7</c:v>
                </c:pt>
                <c:pt idx="14">
                  <c:v>15.1</c:v>
                </c:pt>
              </c:numCache>
            </c:numRef>
          </c:xVal>
          <c:yVal>
            <c:numRef>
              <c:f>Sheet1!$C$2:$C$16</c:f>
              <c:numCache>
                <c:formatCode>General</c:formatCode>
                <c:ptCount val="15"/>
                <c:pt idx="0">
                  <c:v>4.0389</c:v>
                </c:pt>
                <c:pt idx="1">
                  <c:v>4.0508</c:v>
                </c:pt>
                <c:pt idx="2">
                  <c:v>4.077999999999999</c:v>
                </c:pt>
                <c:pt idx="3">
                  <c:v>4.111999999999999</c:v>
                </c:pt>
                <c:pt idx="4">
                  <c:v>4.129</c:v>
                </c:pt>
                <c:pt idx="5">
                  <c:v>4.1613</c:v>
                </c:pt>
                <c:pt idx="6">
                  <c:v>4.1681</c:v>
                </c:pt>
                <c:pt idx="7">
                  <c:v>4.1766</c:v>
                </c:pt>
                <c:pt idx="8">
                  <c:v>4.380599999999999</c:v>
                </c:pt>
                <c:pt idx="9">
                  <c:v>4.3245</c:v>
                </c:pt>
                <c:pt idx="10">
                  <c:v>4.3245</c:v>
                </c:pt>
                <c:pt idx="11">
                  <c:v>4.307499999999999</c:v>
                </c:pt>
                <c:pt idx="12">
                  <c:v>4.2752</c:v>
                </c:pt>
                <c:pt idx="13">
                  <c:v>4.270099999999999</c:v>
                </c:pt>
                <c:pt idx="14">
                  <c:v>4.263299999999999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AF5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FA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chart" Target="/ppt/charts/chart7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chart" Target="/ppt/charts/chart9.xml"/><Relationship Id="rId3" Type="http://schemas.openxmlformats.org/officeDocument/2006/relationships/chart" Target="/ppt/charts/chart10.xml"/><Relationship Id="rId4" Type="http://schemas.openxmlformats.org/officeDocument/2006/relationships/chart" Target="/ppt/charts/chart11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chart" Target="/ppt/charts/chart1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4.xml"/><Relationship Id="rId2" Type="http://schemas.openxmlformats.org/officeDocument/2006/relationships/chart" Target="/ppt/charts/chart1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chart" Target="/ppt/charts/chart17.xml"/><Relationship Id="rId3" Type="http://schemas.openxmlformats.org/officeDocument/2006/relationships/chart" Target="/ppt/charts/chart18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chart" Target="/ppt/charts/chart2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2.xml"/><Relationship Id="rId2" Type="http://schemas.openxmlformats.org/officeDocument/2006/relationships/chart" Target="/ppt/charts/chart2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4.xml"/><Relationship Id="rId2" Type="http://schemas.openxmlformats.org/officeDocument/2006/relationships/chart" Target="/ppt/charts/chart2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6.xml"/><Relationship Id="rId2" Type="http://schemas.openxmlformats.org/officeDocument/2006/relationships/chart" Target="/ppt/charts/chart2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1565C0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011680" y="-731520"/>
            <a:ext cx="1828800" cy="1828800"/>
          </a:xfrm>
          <a:prstGeom prst="ellipse">
            <a:avLst/>
          </a:prstGeom>
          <a:solidFill>
            <a:srgbClr val="64B5F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914400"/>
            <a:ext cx="2926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82880" y="233172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35204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· 2016–2018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6400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566160" y="1417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Dataset Analysis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66160" y="1874520"/>
            <a:ext cx="5029200" cy="0"/>
          </a:xfrm>
          <a:prstGeom prst="line">
            <a:avLst/>
          </a:prstGeom>
          <a:noFill/>
          <a:ln w="25400">
            <a:solidFill>
              <a:srgbClr val="1E88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029968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2029968"/>
            <a:ext cx="1417320" cy="73152"/>
          </a:xfrm>
          <a:prstGeom prst="roundRect">
            <a:avLst>
              <a:gd name="adj" fmla="val 62500"/>
            </a:avLst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1488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115,600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66160" y="2816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566160" y="31272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19% vs 2017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34564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3456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47488" y="2029968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47488" y="2029968"/>
            <a:ext cx="1417320" cy="73152"/>
          </a:xfrm>
          <a:prstGeom prst="roundRect">
            <a:avLst>
              <a:gd name="adj" fmla="val 62500"/>
            </a:avLst>
          </a:prstGeom>
          <a:solidFill>
            <a:srgbClr val="2E7D32"/>
          </a:solidFill>
          <a:ln/>
        </p:spPr>
      </p:sp>
      <p:sp>
        <p:nvSpPr>
          <p:cNvPr id="20" name="Text 18"/>
          <p:cNvSpPr/>
          <p:nvPr/>
        </p:nvSpPr>
        <p:spPr>
          <a:xfrm>
            <a:off x="5047488" y="21488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R$19.9M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47488" y="2816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47488" y="31272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22% vs 2017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21808" y="34564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5321808" y="3456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528816" y="2029968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28816" y="2029968"/>
            <a:ext cx="1417320" cy="73152"/>
          </a:xfrm>
          <a:prstGeom prst="roundRect">
            <a:avLst>
              <a:gd name="adj" fmla="val 62500"/>
            </a:avLst>
          </a:prstGeom>
          <a:solidFill>
            <a:srgbClr val="00695C"/>
          </a:solidFill>
          <a:ln/>
        </p:spPr>
      </p:sp>
      <p:sp>
        <p:nvSpPr>
          <p:cNvPr id="27" name="Text 25"/>
          <p:cNvSpPr/>
          <p:nvPr/>
        </p:nvSpPr>
        <p:spPr>
          <a:xfrm>
            <a:off x="6528816" y="21488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528816" y="2816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Rate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28816" y="31272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113,201 delivered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3136" y="34564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00695C"/>
          </a:solidFill>
          <a:ln/>
        </p:spPr>
      </p:sp>
      <p:sp>
        <p:nvSpPr>
          <p:cNvPr id="31" name="Text 29"/>
          <p:cNvSpPr/>
          <p:nvPr/>
        </p:nvSpPr>
        <p:spPr>
          <a:xfrm>
            <a:off x="6803136" y="3456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8010144" y="2029968"/>
            <a:ext cx="1417320" cy="2011680"/>
          </a:xfrm>
          <a:prstGeom prst="roundRect">
            <a:avLst>
              <a:gd name="adj" fmla="val 6452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10144" y="2029968"/>
            <a:ext cx="1417320" cy="73152"/>
          </a:xfrm>
          <a:prstGeom prst="roundRect">
            <a:avLst>
              <a:gd name="adj" fmla="val 62500"/>
            </a:avLst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8010144" y="2148840"/>
            <a:ext cx="1417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 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010144" y="28163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010144" y="312724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284464" y="3456432"/>
            <a:ext cx="868680" cy="402336"/>
          </a:xfrm>
          <a:prstGeom prst="roundRect">
            <a:avLst>
              <a:gd name="adj" fmla="val 13636"/>
            </a:avLst>
          </a:prstGeom>
          <a:solidFill>
            <a:srgbClr val="E65100"/>
          </a:solidFill>
          <a:ln/>
        </p:spPr>
      </p:sp>
      <p:sp>
        <p:nvSpPr>
          <p:cNvPr id="38" name="Text 36"/>
          <p:cNvSpPr/>
          <p:nvPr/>
        </p:nvSpPr>
        <p:spPr>
          <a:xfrm>
            <a:off x="8284464" y="3456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566160" y="42245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Python · Pandas · Seaborn · Matplotlib · Scipy · pysentimiento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565C0"/>
                </a:solidFill>
              </a:rPr>
              <a:t>DATASET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columns · 115,600 rows · 8 merged tables · 3 years of Brazilian e-commerce data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417320"/>
            <a:ext cx="2084832" cy="36118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41732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417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Numerical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" y="199339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" y="19933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432304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" y="24323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287121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28712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" y="331012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" y="331012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product_weight_g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74904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84048" y="4187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418795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payment_installments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626864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462686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order_item_id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05456" y="1417320"/>
            <a:ext cx="2084832" cy="36118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05456" y="141732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/>
        </p:spPr>
      </p:sp>
      <p:sp>
        <p:nvSpPr>
          <p:cNvPr id="26" name="Text 24"/>
          <p:cNvSpPr/>
          <p:nvPr/>
        </p:nvSpPr>
        <p:spPr>
          <a:xfrm>
            <a:off x="2505456" y="1417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596896" y="199339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28" name="Text 26"/>
          <p:cNvSpPr/>
          <p:nvPr/>
        </p:nvSpPr>
        <p:spPr>
          <a:xfrm>
            <a:off x="2688336" y="19933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96896" y="2432304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30" name="Text 28"/>
          <p:cNvSpPr/>
          <p:nvPr/>
        </p:nvSpPr>
        <p:spPr>
          <a:xfrm>
            <a:off x="2688336" y="24323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payment_type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96896" y="287121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32" name="Text 30"/>
          <p:cNvSpPr/>
          <p:nvPr/>
        </p:nvSpPr>
        <p:spPr>
          <a:xfrm>
            <a:off x="2688336" y="28712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product_category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96896" y="331012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2688336" y="331012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customer_state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96896" y="374904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36" name="Text 34"/>
          <p:cNvSpPr/>
          <p:nvPr/>
        </p:nvSpPr>
        <p:spPr>
          <a:xfrm>
            <a:off x="2688336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customer_city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18304" y="1417320"/>
            <a:ext cx="2084832" cy="36118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141732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E65100"/>
          </a:solidFill>
          <a:ln/>
        </p:spPr>
      </p:sp>
      <p:sp>
        <p:nvSpPr>
          <p:cNvPr id="39" name="Text 37"/>
          <p:cNvSpPr/>
          <p:nvPr/>
        </p:nvSpPr>
        <p:spPr>
          <a:xfrm>
            <a:off x="4718304" y="1417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Datetime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09744" y="199339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41" name="Text 39"/>
          <p:cNvSpPr/>
          <p:nvPr/>
        </p:nvSpPr>
        <p:spPr>
          <a:xfrm>
            <a:off x="4901184" y="19933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order_purchase_ts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9744" y="2432304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43" name="Text 41"/>
          <p:cNvSpPr/>
          <p:nvPr/>
        </p:nvSpPr>
        <p:spPr>
          <a:xfrm>
            <a:off x="4901184" y="24323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order_delivered_date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09744" y="2871216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45" name="Text 43"/>
          <p:cNvSpPr/>
          <p:nvPr/>
        </p:nvSpPr>
        <p:spPr>
          <a:xfrm>
            <a:off x="4901184" y="2871216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order_estimated_date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09744" y="3310128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47" name="Text 45"/>
          <p:cNvSpPr/>
          <p:nvPr/>
        </p:nvSpPr>
        <p:spPr>
          <a:xfrm>
            <a:off x="4901184" y="3310128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order_approved_at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9744" y="3749040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49" name="Text 47"/>
          <p:cNvSpPr/>
          <p:nvPr/>
        </p:nvSpPr>
        <p:spPr>
          <a:xfrm>
            <a:off x="4901184" y="3749040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shipping_limit_date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09744" y="418795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51" name="Text 49"/>
          <p:cNvSpPr/>
          <p:nvPr/>
        </p:nvSpPr>
        <p:spPr>
          <a:xfrm>
            <a:off x="4901184" y="418795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review_creation_date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31152" y="1417320"/>
            <a:ext cx="2084832" cy="3611880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931152" y="1417320"/>
            <a:ext cx="2084832" cy="457200"/>
          </a:xfrm>
          <a:prstGeom prst="roundRect">
            <a:avLst>
              <a:gd name="adj" fmla="val 16000"/>
            </a:avLst>
          </a:prstGeom>
          <a:solidFill>
            <a:srgbClr val="6A1B9A"/>
          </a:solidFill>
          <a:ln/>
        </p:spPr>
      </p:sp>
      <p:sp>
        <p:nvSpPr>
          <p:cNvPr id="54" name="Text 52"/>
          <p:cNvSpPr/>
          <p:nvPr/>
        </p:nvSpPr>
        <p:spPr>
          <a:xfrm>
            <a:off x="6931152" y="141732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Text / NLP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22592" y="1993392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56" name="Text 54"/>
          <p:cNvSpPr/>
          <p:nvPr/>
        </p:nvSpPr>
        <p:spPr>
          <a:xfrm>
            <a:off x="7114032" y="19933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review_comment_message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022592" y="2432304"/>
            <a:ext cx="1901952" cy="347472"/>
          </a:xfrm>
          <a:prstGeom prst="roundRect">
            <a:avLst>
              <a:gd name="adj" fmla="val 15789"/>
            </a:avLst>
          </a:prstGeom>
          <a:solidFill>
            <a:srgbClr val="F4F7FC"/>
          </a:solidFill>
          <a:ln/>
        </p:spPr>
      </p:sp>
      <p:sp>
        <p:nvSpPr>
          <p:cNvPr id="58" name="Text 56"/>
          <p:cNvSpPr/>
          <p:nvPr/>
        </p:nvSpPr>
        <p:spPr>
          <a:xfrm>
            <a:off x="7114032" y="2432304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review_comment_title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92608" y="4892040"/>
            <a:ext cx="8558784" cy="27432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10160">
            <a:solidFill>
              <a:srgbClr val="E651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892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missing values →  review_comment_message: 58%  ·  review_comment_title: 88%  ·  order_delivered_date: ~5%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565C0"/>
                </a:solidFill>
              </a:rPr>
              <a:t>UNIVARIATE · NUMERICAL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Columns — Summary Statistics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core columns are heavily right-skewed with extreme outliers → fixed with capping + log transform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89888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89888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" y="1389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9751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09928" y="197510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42316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9928" y="242316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7121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09928" y="287121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31927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709928" y="331927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6,735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673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09928" y="376732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21538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→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09928" y="421538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64408" y="1389888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64408" y="1389888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3264408" y="1389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37560" y="1938528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19751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81728" y="197510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29000" y="242316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81728" y="242316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16.32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37560" y="2834640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34" name="Text 32"/>
          <p:cNvSpPr/>
          <p:nvPr/>
        </p:nvSpPr>
        <p:spPr>
          <a:xfrm>
            <a:off x="3429000" y="287121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681728" y="287121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29000" y="331927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81728" y="331927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409.68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37560" y="3730752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39" name="Text 37"/>
          <p:cNvSpPr/>
          <p:nvPr/>
        </p:nvSpPr>
        <p:spPr>
          <a:xfrm>
            <a:off x="3429000" y="37673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681728" y="376732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429000" y="421538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→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681728" y="421538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1389888"/>
            <a:ext cx="2834640" cy="376732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36208" y="1389888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/>
        </p:spPr>
      </p:sp>
      <p:sp>
        <p:nvSpPr>
          <p:cNvPr id="45" name="Text 43"/>
          <p:cNvSpPr/>
          <p:nvPr/>
        </p:nvSpPr>
        <p:spPr>
          <a:xfrm>
            <a:off x="6236208" y="13898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309360" y="1938528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197510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7653528" y="197510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172.37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2423160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53528" y="2423160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108.04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09360" y="2834640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52" name="Text 50"/>
          <p:cNvSpPr/>
          <p:nvPr/>
        </p:nvSpPr>
        <p:spPr>
          <a:xfrm>
            <a:off x="6400800" y="2871216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653528" y="2871216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00800" y="3319272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653528" y="3319272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13,664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309360" y="3730752"/>
            <a:ext cx="2688336" cy="365760"/>
          </a:xfrm>
          <a:prstGeom prst="roundRect">
            <a:avLst>
              <a:gd name="adj" fmla="val 12500"/>
            </a:avLst>
          </a:prstGeom>
          <a:solidFill>
            <a:srgbClr val="F4F7FC"/>
          </a:solidFill>
          <a:ln/>
        </p:spPr>
      </p:sp>
      <p:sp>
        <p:nvSpPr>
          <p:cNvPr id="57" name="Text 55"/>
          <p:cNvSpPr/>
          <p:nvPr/>
        </p:nvSpPr>
        <p:spPr>
          <a:xfrm>
            <a:off x="6400800" y="3767328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7653528" y="3767328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128.58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400800" y="4215384"/>
            <a:ext cx="12801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Skewness →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7653528" y="4215384"/>
            <a:ext cx="12984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14.31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292608" y="5230368"/>
            <a:ext cx="8558784" cy="292608"/>
          </a:xfrm>
          <a:prstGeom prst="roundRect">
            <a:avLst>
              <a:gd name="adj" fmla="val 21875"/>
            </a:avLst>
          </a:prstGeom>
          <a:solidFill>
            <a:srgbClr val="1565C0"/>
          </a:solidFill>
          <a:ln/>
        </p:spPr>
      </p:sp>
      <p:sp>
        <p:nvSpPr>
          <p:cNvPr id="62" name="Text 60"/>
          <p:cNvSpPr/>
          <p:nvPr/>
        </p:nvSpPr>
        <p:spPr>
          <a:xfrm>
            <a:off x="457200" y="5230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Fix applied: Capping at 95th percentile  +  Log transformation (log1p)  →  Skewness reduced to near 0 for all columns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565C0"/>
                </a:solidFill>
              </a:rPr>
              <a:t>UNIVARIATE · DISTRIBUTIONS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Freight &amp; Payment — Distribution Charts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+ KDE plots after log transformation  ·  Outlier bounds using IQR method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— log-transformed histogram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393192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value — log-transformed histogram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64208"/>
          <a:ext cx="4142232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438144"/>
            <a:ext cx="411480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9768" y="35295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value — log-transformed histogram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" y="3803904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2" descr=""/>
          <p:cNvGraphicFramePr/>
          <p:nvPr/>
        </p:nvGraphicFramePr>
        <p:xfrm>
          <a:off x="384048" y="3730752"/>
          <a:ext cx="393192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526280" y="3438144"/>
            <a:ext cx="4325112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663440" y="3529584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bounds — IQR method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803904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645152" y="3767328"/>
            <a:ext cx="4096512" cy="457200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/>
        </p:spPr>
      </p:sp>
      <p:sp>
        <p:nvSpPr>
          <p:cNvPr id="23" name="Shape 18"/>
          <p:cNvSpPr/>
          <p:nvPr/>
        </p:nvSpPr>
        <p:spPr>
          <a:xfrm>
            <a:off x="4645152" y="3767328"/>
            <a:ext cx="73152" cy="457200"/>
          </a:xfrm>
          <a:prstGeom prst="roundRect">
            <a:avLst/>
          </a:prstGeom>
          <a:solidFill>
            <a:srgbClr val="1565C0"/>
          </a:solidFill>
          <a:ln/>
        </p:spPr>
      </p:sp>
      <p:sp>
        <p:nvSpPr>
          <p:cNvPr id="24" name="Text 19"/>
          <p:cNvSpPr/>
          <p:nvPr/>
        </p:nvSpPr>
        <p:spPr>
          <a:xfrm>
            <a:off x="4754880" y="379476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4754880" y="400507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Upper: R$277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6492240" y="400507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R$6,735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4645152" y="4297680"/>
            <a:ext cx="4096512" cy="457200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/>
        </p:spPr>
      </p:sp>
      <p:sp>
        <p:nvSpPr>
          <p:cNvPr id="28" name="Shape 23"/>
          <p:cNvSpPr/>
          <p:nvPr/>
        </p:nvSpPr>
        <p:spPr>
          <a:xfrm>
            <a:off x="4645152" y="4297680"/>
            <a:ext cx="73152" cy="457200"/>
          </a:xfrm>
          <a:prstGeom prst="roundRect">
            <a:avLst/>
          </a:prstGeom>
          <a:solidFill>
            <a:srgbClr val="2E7D32"/>
          </a:solidFill>
          <a:ln/>
        </p:spPr>
      </p:sp>
      <p:sp>
        <p:nvSpPr>
          <p:cNvPr id="29" name="Text 24"/>
          <p:cNvSpPr/>
          <p:nvPr/>
        </p:nvSpPr>
        <p:spPr>
          <a:xfrm>
            <a:off x="4754880" y="432511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freight_value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754880" y="4535424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Upper: R$33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6492240" y="4535424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R$409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645152" y="4828032"/>
            <a:ext cx="4096512" cy="457200"/>
          </a:xfrm>
          <a:prstGeom prst="roundRect">
            <a:avLst>
              <a:gd name="adj" fmla="val 14000"/>
            </a:avLst>
          </a:prstGeom>
          <a:solidFill>
            <a:srgbClr val="F4F7FC"/>
          </a:solidFill>
          <a:ln/>
        </p:spPr>
      </p:sp>
      <p:sp>
        <p:nvSpPr>
          <p:cNvPr id="33" name="Shape 28"/>
          <p:cNvSpPr/>
          <p:nvPr/>
        </p:nvSpPr>
        <p:spPr>
          <a:xfrm>
            <a:off x="4645152" y="4828032"/>
            <a:ext cx="73152" cy="457200"/>
          </a:xfrm>
          <a:prstGeom prst="roundRect">
            <a:avLst/>
          </a:prstGeom>
          <a:solidFill>
            <a:srgbClr val="E65100"/>
          </a:solidFill>
          <a:ln/>
        </p:spPr>
      </p:sp>
      <p:sp>
        <p:nvSpPr>
          <p:cNvPr id="34" name="Text 29"/>
          <p:cNvSpPr/>
          <p:nvPr/>
        </p:nvSpPr>
        <p:spPr>
          <a:xfrm>
            <a:off x="4754880" y="48554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payment_value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754880" y="5065776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Upper: R$382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6492240" y="506577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Max: R$13,664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7D32"/>
                </a:solidFill>
              </a:rPr>
              <a:t>UNIVARIATE · CATEGORICAL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— Frequency Analysis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order_status  ·  payment_type  ·  product_category  ·  customer_city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— count plot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3931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— distribution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27632"/>
          <a:ext cx="4142232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310128"/>
            <a:ext cx="4114800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9768" y="34015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product categories by orders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" y="3675888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2" descr=""/>
          <p:cNvGraphicFramePr/>
          <p:nvPr/>
        </p:nvGraphicFramePr>
        <p:xfrm>
          <a:off x="384048" y="3584448"/>
          <a:ext cx="3931920" cy="17007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526280" y="3310128"/>
            <a:ext cx="4325112" cy="2084832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663440" y="3401568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cities by order volume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675888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22" name="Chart 3" descr=""/>
          <p:cNvGraphicFramePr/>
          <p:nvPr/>
        </p:nvGraphicFramePr>
        <p:xfrm>
          <a:off x="4617720" y="3584448"/>
          <a:ext cx="4142232" cy="170078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65100"/>
                </a:solidFill>
              </a:rPr>
              <a:t>UNIVARIATE · DATETIME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Datetime Analysis — Ordering Patterns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 ·  Month  ·  Day of week  ·  Hour of 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5376672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510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month — seasonal trend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510235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5193792" cy="14996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779008" y="1371600"/>
            <a:ext cx="3072384" cy="1901952"/>
          </a:xfrm>
          <a:prstGeom prst="roundRect">
            <a:avLst>
              <a:gd name="adj" fmla="val 480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16168" y="146304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year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16168" y="1737360"/>
            <a:ext cx="2798064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5870448" y="1664208"/>
          <a:ext cx="2889504" cy="14996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401568"/>
            <a:ext cx="41148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9768" y="34930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day of week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" y="3767328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2" descr=""/>
          <p:cNvGraphicFramePr/>
          <p:nvPr/>
        </p:nvGraphicFramePr>
        <p:xfrm>
          <a:off x="384048" y="3675888"/>
          <a:ext cx="3931920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526280" y="3401568"/>
            <a:ext cx="432511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4663440" y="3493008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hour of day — peak times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767328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22" name="Chart 3" descr=""/>
          <p:cNvGraphicFramePr/>
          <p:nvPr/>
        </p:nvGraphicFramePr>
        <p:xfrm>
          <a:off x="4617720" y="3675888"/>
          <a:ext cx="4142232" cy="15819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A1B9A"/>
                </a:solidFill>
              </a:rPr>
              <a:t>TEXT ANALYSIS · NLP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— Portuguese Reviews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random sample  ·  pysentimiento (pt)  ·  48,613 non-null messages available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distribution — donut chart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457200" y="1664208"/>
          <a:ext cx="3785616" cy="2999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with most negative reviews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64208"/>
          <a:ext cx="4142232" cy="299923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4864608"/>
            <a:ext cx="8558784" cy="320040"/>
          </a:xfrm>
          <a:prstGeom prst="roundRect">
            <a:avLst>
              <a:gd name="adj" fmla="val 20000"/>
            </a:avLst>
          </a:prstGeom>
          <a:solidFill>
            <a:srgbClr val="EEF3FB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48646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44.2% Positive  ·  35.7% Neutral  ·  20.1% Negative  ·  High neutral % = short/terse reviews  ·  bed_bath_table leads complaints (highest sales volume)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00695C"/>
                </a:solidFill>
              </a:rPr>
              <a:t>BIVARIATE · NUM VS NUM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vs Numerical — Correlations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with regression lines  ·  Pearson correlation coefficients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Freight Value  |  r = 0.41 (Moderate)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3931920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2304288"/>
          </a:xfrm>
          <a:prstGeom prst="roundRect">
            <a:avLst>
              <a:gd name="adj" fmla="val 3968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Weight vs Freight  |  r = 0.61 (Strong)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64208"/>
          <a:ext cx="4142232" cy="190195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794760"/>
            <a:ext cx="8558784" cy="1536192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9768" y="3886200"/>
            <a:ext cx="8284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summary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" y="4160520"/>
            <a:ext cx="8284464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1480" y="40050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11480" y="400507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E65100"/>
          </a:solidFill>
          <a:ln/>
        </p:spPr>
      </p:sp>
      <p:sp>
        <p:nvSpPr>
          <p:cNvPr id="20" name="Text 16"/>
          <p:cNvSpPr/>
          <p:nvPr/>
        </p:nvSpPr>
        <p:spPr>
          <a:xfrm>
            <a:off x="50292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freight_value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50292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0.41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41732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50292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matters more than price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560320" y="40050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560320" y="400507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2E7D32"/>
          </a:solidFill>
          <a:ln/>
        </p:spPr>
      </p:sp>
      <p:sp>
        <p:nvSpPr>
          <p:cNvPr id="26" name="Text 22"/>
          <p:cNvSpPr/>
          <p:nvPr/>
        </p:nvSpPr>
        <p:spPr>
          <a:xfrm>
            <a:off x="265176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weight_g ↔ freight_value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265176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0.61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356616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265176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freight driver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4709160" y="40050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4709160" y="400507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1565C0"/>
          </a:solidFill>
          <a:ln/>
        </p:spPr>
      </p:sp>
      <p:sp>
        <p:nvSpPr>
          <p:cNvPr id="32" name="Text 28"/>
          <p:cNvSpPr/>
          <p:nvPr/>
        </p:nvSpPr>
        <p:spPr>
          <a:xfrm>
            <a:off x="480060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↔ payment_value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480060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0.78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71500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480060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 = higher payment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6858000" y="4005072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7" name="Shape 33"/>
          <p:cNvSpPr/>
          <p:nvPr/>
        </p:nvSpPr>
        <p:spPr>
          <a:xfrm>
            <a:off x="6858000" y="4005072"/>
            <a:ext cx="2011680" cy="54864"/>
          </a:xfrm>
          <a:prstGeom prst="roundRect">
            <a:avLst>
              <a:gd name="adj" fmla="val 83333"/>
            </a:avLst>
          </a:prstGeom>
          <a:solidFill>
            <a:srgbClr val="6A1B9A"/>
          </a:solidFill>
          <a:ln/>
        </p:spPr>
      </p:sp>
      <p:sp>
        <p:nvSpPr>
          <p:cNvPr id="38" name="Text 34"/>
          <p:cNvSpPr/>
          <p:nvPr/>
        </p:nvSpPr>
        <p:spPr>
          <a:xfrm>
            <a:off x="6949440" y="409651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installments ↔ payment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694944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0.27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7863840" y="433425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6949440" y="46451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but small effect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6A1B9A"/>
                </a:solidFill>
              </a:rPr>
              <a:t>BIVARIATE · CAT VS NUM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vs Numerical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type vs payment value  ·  Product category vs avg price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payment value by payment type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3931920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2176272"/>
          </a:xfrm>
          <a:prstGeom prst="roundRect">
            <a:avLst>
              <a:gd name="adj" fmla="val 420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expensive categories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64208"/>
          <a:ext cx="4142232" cy="177393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675888"/>
            <a:ext cx="4114800" cy="1719072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29768" y="37673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cheapest categories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29768" y="4041648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2" descr=""/>
          <p:cNvGraphicFramePr/>
          <p:nvPr/>
        </p:nvGraphicFramePr>
        <p:xfrm>
          <a:off x="384048" y="3950208"/>
          <a:ext cx="3931920" cy="13350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Shape 14"/>
          <p:cNvSpPr/>
          <p:nvPr/>
        </p:nvSpPr>
        <p:spPr>
          <a:xfrm>
            <a:off x="4645152" y="3675888"/>
            <a:ext cx="1335024" cy="171907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645152" y="3675888"/>
            <a:ext cx="54864" cy="1719072"/>
          </a:xfrm>
          <a:prstGeom prst="roundRect">
            <a:avLst>
              <a:gd name="adj" fmla="val 83333"/>
            </a:avLst>
          </a:prstGeom>
          <a:solidFill>
            <a:srgbClr val="E65100"/>
          </a:solidFill>
          <a:ln/>
        </p:spPr>
      </p:sp>
      <p:sp>
        <p:nvSpPr>
          <p:cNvPr id="21" name="Text 16"/>
          <p:cNvSpPr/>
          <p:nvPr/>
        </p:nvSpPr>
        <p:spPr>
          <a:xfrm>
            <a:off x="4782312" y="3767328"/>
            <a:ext cx="1152144" cy="790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R$1,078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4782312" y="4535424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avg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782312" y="4948001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expensive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089904" y="3675888"/>
            <a:ext cx="1335024" cy="171907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089904" y="3675888"/>
            <a:ext cx="54864" cy="1719072"/>
          </a:xfrm>
          <a:prstGeom prst="roundRect">
            <a:avLst>
              <a:gd name="adj" fmla="val 83333"/>
            </a:avLst>
          </a:prstGeom>
          <a:solidFill>
            <a:srgbClr val="00695C"/>
          </a:solidFill>
          <a:ln/>
        </p:spPr>
      </p:sp>
      <p:sp>
        <p:nvSpPr>
          <p:cNvPr id="26" name="Text 21"/>
          <p:cNvSpPr/>
          <p:nvPr/>
        </p:nvSpPr>
        <p:spPr>
          <a:xfrm>
            <a:off x="6227064" y="3767328"/>
            <a:ext cx="1152144" cy="790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R$26</a:t>
            </a:r>
            <a:endParaRPr lang="en-US" sz="2000" dirty="0"/>
          </a:p>
        </p:txBody>
      </p:sp>
      <p:sp>
        <p:nvSpPr>
          <p:cNvPr id="27" name="Text 22"/>
          <p:cNvSpPr/>
          <p:nvPr/>
        </p:nvSpPr>
        <p:spPr>
          <a:xfrm>
            <a:off x="6227064" y="4535424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home_comfort_2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27064" y="4948001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7534656" y="3675888"/>
            <a:ext cx="1335024" cy="171907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534656" y="3675888"/>
            <a:ext cx="54864" cy="1719072"/>
          </a:xfrm>
          <a:prstGeom prst="roundRect">
            <a:avLst>
              <a:gd name="adj" fmla="val 83333"/>
            </a:avLst>
          </a:prstGeom>
          <a:solidFill>
            <a:srgbClr val="C62828"/>
          </a:solidFill>
          <a:ln/>
        </p:spPr>
      </p:sp>
      <p:sp>
        <p:nvSpPr>
          <p:cNvPr id="31" name="Text 26"/>
          <p:cNvSpPr/>
          <p:nvPr/>
        </p:nvSpPr>
        <p:spPr>
          <a:xfrm>
            <a:off x="7671816" y="3767328"/>
            <a:ext cx="1152144" cy="7907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41×</a:t>
            </a:r>
            <a:endParaRPr lang="en-US" sz="2000" dirty="0"/>
          </a:p>
        </p:txBody>
      </p:sp>
      <p:sp>
        <p:nvSpPr>
          <p:cNvPr id="32" name="Text 27"/>
          <p:cNvSpPr/>
          <p:nvPr/>
        </p:nvSpPr>
        <p:spPr>
          <a:xfrm>
            <a:off x="7671816" y="4535424"/>
            <a:ext cx="11521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7671816" y="4948001"/>
            <a:ext cx="11521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vs least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558B2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558B2F"/>
                </a:solidFill>
              </a:rPr>
              <a:t>BIVARIATE · CAT VS CAT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 vs Review Score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worst rated categories  ·  Average score out of 5.0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best rated categories ★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3931920" cy="3392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4526280" y="1371600"/>
            <a:ext cx="432511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663440" y="1463040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worst rated categories ★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737360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4617720" y="1664208"/>
          <a:ext cx="4142232" cy="33924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5257800"/>
            <a:ext cx="8558784" cy="274320"/>
          </a:xfrm>
          <a:prstGeom prst="roundRect">
            <a:avLst>
              <a:gd name="adj" fmla="val 23333"/>
            </a:avLst>
          </a:prstGeom>
          <a:solidFill>
            <a:srgbClr val="1565C0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" y="5257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4.64 (cds_dvds) vs 2.50 (security_services) = 2.14 point difference  ·  Books top rated  ·  Furniture &amp; fashion lowest rated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65100"/>
                </a:solidFill>
              </a:rPr>
              <a:t>MULTIVARIATE ANALYSIS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Heatmap — Category ×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value per category per month  ·  Top 5 categories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8558784" cy="2816352"/>
          </a:xfrm>
          <a:prstGeom prst="roundRect">
            <a:avLst>
              <a:gd name="adj" fmla="val 3247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8284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payment value by month — top 5 categories (grouped bar)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8284464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8375904" cy="23957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292608" y="4315968"/>
            <a:ext cx="4187952" cy="329184"/>
          </a:xfrm>
          <a:prstGeom prst="roundRect">
            <a:avLst>
              <a:gd name="adj" fmla="val 19444"/>
            </a:avLst>
          </a:prstGeom>
          <a:solidFill>
            <a:srgbClr val="EEF3FB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2336" y="431596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 May &amp; Aug are peak revenue months across all 5 categories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54296" y="4315968"/>
            <a:ext cx="4187952" cy="329184"/>
          </a:xfrm>
          <a:prstGeom prst="roundRect">
            <a:avLst>
              <a:gd name="adj" fmla="val 19444"/>
            </a:avLst>
          </a:prstGeom>
          <a:solidFill>
            <a:srgbClr val="EEF3FB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64024" y="4315968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Sep–Oct lightest columns — 60–80% revenue drop from peak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92608" y="4736592"/>
            <a:ext cx="4187952" cy="329184"/>
          </a:xfrm>
          <a:prstGeom prst="roundRect">
            <a:avLst>
              <a:gd name="adj" fmla="val 19444"/>
            </a:avLst>
          </a:prstGeom>
          <a:solidFill>
            <a:srgbClr val="EEF3FB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2336" y="473659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health_beauty Aug: R$218,698 — highest single month value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654296" y="4736592"/>
            <a:ext cx="4187952" cy="329184"/>
          </a:xfrm>
          <a:prstGeom prst="roundRect">
            <a:avLst>
              <a:gd name="adj" fmla="val 19444"/>
            </a:avLst>
          </a:prstGeom>
          <a:solidFill>
            <a:srgbClr val="EEF3FB"/>
          </a:solidFill>
          <a:ln w="6350">
            <a:solidFill>
              <a:srgbClr val="1E88E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64024" y="4736592"/>
            <a:ext cx="4005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computers_acc Feb: R$226,973 — likely back-to-school seasonal spike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2E7D32"/>
                </a:solidFill>
              </a:rPr>
              <a:t>HYPOTHESIS TESTING · H3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Delivery Delay vs Review Score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 customers give significantly higher review scores — Mann-Whitney U Test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7A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significant difference in review scores between on-time and delayed orders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371600"/>
            <a:ext cx="4325112" cy="402336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71600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On-time deliveries get significantly higher review scores than delayed orders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90195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993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counts — on-time vs delayed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267712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384048" y="2176272"/>
          <a:ext cx="393192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526280" y="1901952"/>
            <a:ext cx="432511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1993392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score — on-time vs delayed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2267712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4617720" y="2176272"/>
          <a:ext cx="4142232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292608" y="3950208"/>
            <a:ext cx="8558784" cy="1261872"/>
          </a:xfrm>
          <a:prstGeom prst="roundRect">
            <a:avLst>
              <a:gd name="adj" fmla="val 7246"/>
            </a:avLst>
          </a:prstGeom>
          <a:solidFill>
            <a:srgbClr val="2E7D32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84048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REJECT H₀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84048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 ·  p = 0.000000  ·  Score gap: 4.5 vs 2.0  =  2.5 point difference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4048" y="4754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is the #1 driver of customer dissatisfaction  ·  Action: proactive delay alerts + compensation vouchers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565C0"/>
                </a:solidFill>
              </a:rPr>
              <a:t>HYPOTHESIS TESTING · H6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— Installments vs Payment Value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installment users spend significantly more — Mann-Whitney U + Pearson Correlation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114800" cy="402336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7A8FA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No significant difference in payment value between low and high installment groups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26280" y="1371600"/>
            <a:ext cx="4325112" cy="402336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1016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71600"/>
            <a:ext cx="4096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 Customers paying more installments have significantly higher total payment values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92608" y="1901952"/>
            <a:ext cx="41148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9768" y="19933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vs high installment — order counts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2267712"/>
            <a:ext cx="3840480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0" descr=""/>
          <p:cNvGraphicFramePr/>
          <p:nvPr/>
        </p:nvGraphicFramePr>
        <p:xfrm>
          <a:off x="384048" y="2176272"/>
          <a:ext cx="3931920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Shape 12"/>
          <p:cNvSpPr/>
          <p:nvPr/>
        </p:nvSpPr>
        <p:spPr>
          <a:xfrm>
            <a:off x="4526280" y="1901952"/>
            <a:ext cx="4325112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63440" y="1993392"/>
            <a:ext cx="40507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payment value by installment group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663440" y="2267712"/>
            <a:ext cx="405079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8" name="Chart 1" descr=""/>
          <p:cNvGraphicFramePr/>
          <p:nvPr/>
        </p:nvGraphicFramePr>
        <p:xfrm>
          <a:off x="4617720" y="2176272"/>
          <a:ext cx="4142232" cy="15361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Shape 15"/>
          <p:cNvSpPr/>
          <p:nvPr/>
        </p:nvSpPr>
        <p:spPr>
          <a:xfrm>
            <a:off x="292608" y="3950208"/>
            <a:ext cx="8558784" cy="1261872"/>
          </a:xfrm>
          <a:prstGeom prst="roundRect">
            <a:avLst>
              <a:gd name="adj" fmla="val 7246"/>
            </a:avLst>
          </a:prstGeom>
          <a:solidFill>
            <a:srgbClr val="1565C0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384048" y="400507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REJECT H₀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384048" y="448056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Mann-Whitney U + Pearson  ·  p = 0.000000  ·  r = 0.27 (weak positive)  ·  High avg R$247 vs Low avg R$143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384048" y="47548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but weak — installments explain 27% of payment variation  ·  Action: push EMI on computers &amp; appliances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E65100"/>
                </a:solidFill>
              </a:rPr>
              <a:t>FURTHER EXPLORATION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Time Across States — Deep Dive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 Delivery time varies significantly by state and impacts review scores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5376672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9768" y="1463040"/>
            <a:ext cx="5102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days — slowest vs fastest states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9768" y="1737360"/>
            <a:ext cx="5102352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384048" y="1664208"/>
          <a:ext cx="5193792" cy="1956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779008" y="1371600"/>
            <a:ext cx="3072384" cy="2359152"/>
          </a:xfrm>
          <a:prstGeom prst="roundRect">
            <a:avLst>
              <a:gd name="adj" fmla="val 3876"/>
            </a:avLst>
          </a:prstGeom>
          <a:solidFill>
            <a:srgbClr val="FFFFFF"/>
          </a:solidFill>
          <a:ln w="6350">
            <a:solidFill>
              <a:srgbClr val="EEF3FB"/>
            </a:solidFill>
            <a:prstDash val="solid"/>
          </a:ln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16168" y="1463040"/>
            <a:ext cx="27980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delivery days vs review score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916168" y="1737360"/>
            <a:ext cx="2798064" cy="0"/>
          </a:xfrm>
          <a:prstGeom prst="line">
            <a:avLst/>
          </a:prstGeom>
          <a:noFill/>
          <a:ln w="10160">
            <a:solidFill>
              <a:srgbClr val="EEF3FB"/>
            </a:solidFill>
            <a:prstDash val="solid"/>
          </a:ln>
        </p:spPr>
      </p:sp>
      <p:graphicFrame>
        <p:nvGraphicFramePr>
          <p:cNvPr id="14" name="Chart 1" descr=""/>
          <p:cNvGraphicFramePr/>
          <p:nvPr/>
        </p:nvGraphicFramePr>
        <p:xfrm>
          <a:off x="5870448" y="1664208"/>
          <a:ext cx="2889504" cy="195681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92608" y="3858768"/>
            <a:ext cx="8558784" cy="1335024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2608" y="3858768"/>
            <a:ext cx="2011680" cy="1335024"/>
          </a:xfrm>
          <a:prstGeom prst="roundRect">
            <a:avLst>
              <a:gd name="adj" fmla="val 5479"/>
            </a:avLst>
          </a:prstGeom>
          <a:solidFill>
            <a:srgbClr val="E65100"/>
          </a:solidFill>
          <a:ln/>
        </p:spPr>
      </p:sp>
      <p:sp>
        <p:nvSpPr>
          <p:cNvPr id="17" name="Text 13"/>
          <p:cNvSpPr/>
          <p:nvPr/>
        </p:nvSpPr>
        <p:spPr>
          <a:xfrm>
            <a:off x="292608" y="3858768"/>
            <a:ext cx="20116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REJECT H₀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423160" y="3913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p  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160520" y="391363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0.000000 — delivery time differs significantly across states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423160" y="4187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 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160520" y="418795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-0.30 — more delivery days = lower review score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423160" y="446227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gap  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160520" y="446227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28.3 days vs SP: 8.2 days — 20 day difference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2423160" y="4736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 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160520" y="4736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North Brazil fulfilment centres + realistic ETA alerts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1565C0"/>
                </a:solidFill>
              </a:rPr>
              <a:t>KEY FINDINGS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8 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univariate · bivariate · multivariate · hypothesis testing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71600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71600"/>
            <a:ext cx="54864" cy="822960"/>
          </a:xfrm>
          <a:prstGeom prst="roundRect">
            <a:avLst>
              <a:gd name="adj" fmla="val 83333"/>
            </a:avLst>
          </a:prstGeom>
          <a:solidFill>
            <a:srgbClr val="2E7D32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" y="15361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59536" y="142646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delivery success rate — best-in-class fulfilment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1773936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113,201 of 115,600 orders delivered successfully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18304" y="1371600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18304" y="1371600"/>
            <a:ext cx="54864" cy="822960"/>
          </a:xfrm>
          <a:prstGeom prst="roundRect">
            <a:avLst>
              <a:gd name="adj" fmla="val 83333"/>
            </a:avLst>
          </a:prstGeom>
          <a:solidFill>
            <a:srgbClr val="1565C0"/>
          </a:solidFill>
          <a:ln/>
        </p:spPr>
      </p:sp>
      <p:sp>
        <p:nvSpPr>
          <p:cNvPr id="15" name="Shape 13"/>
          <p:cNvSpPr/>
          <p:nvPr/>
        </p:nvSpPr>
        <p:spPr>
          <a:xfrm>
            <a:off x="4828032" y="1536192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4828032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85232" y="142646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dominates at 73% — single point of failure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85232" y="1773936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85,270 orders · avg spend R$179 per transaction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92608" y="2304288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92608" y="2304288"/>
            <a:ext cx="54864" cy="822960"/>
          </a:xfrm>
          <a:prstGeom prst="roundRect">
            <a:avLst>
              <a:gd name="adj" fmla="val 83333"/>
            </a:avLst>
          </a:prstGeom>
          <a:solidFill>
            <a:srgbClr val="C62828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336" y="24688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C62828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59536" y="235915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delay cuts review score by 2.5 points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9536" y="270662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4.5★ on-time vs 2.0★ delayed — p = 0.000000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18304" y="2304288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18304" y="2304288"/>
            <a:ext cx="54864" cy="822960"/>
          </a:xfrm>
          <a:prstGeom prst="roundRect">
            <a:avLst>
              <a:gd name="adj" fmla="val 83333"/>
            </a:avLst>
          </a:prstGeom>
          <a:solidFill>
            <a:srgbClr val="E65100"/>
          </a:solidFill>
          <a:ln/>
        </p:spPr>
      </p:sp>
      <p:sp>
        <p:nvSpPr>
          <p:cNvPr id="27" name="Shape 25"/>
          <p:cNvSpPr/>
          <p:nvPr/>
        </p:nvSpPr>
        <p:spPr>
          <a:xfrm>
            <a:off x="4828032" y="2468880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4828032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85232" y="235915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Brazil 3.4× slower — 20 day delivery gap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85232" y="2706624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RR: 28.3 days vs SP: 8.2 days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92608" y="3236976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92608" y="3236976"/>
            <a:ext cx="54864" cy="822960"/>
          </a:xfrm>
          <a:prstGeom prst="roundRect">
            <a:avLst>
              <a:gd name="adj" fmla="val 83333"/>
            </a:avLst>
          </a:prstGeom>
          <a:solidFill>
            <a:srgbClr val="6A1B9A"/>
          </a:solidFill>
          <a:ln/>
        </p:spPr>
      </p:sp>
      <p:sp>
        <p:nvSpPr>
          <p:cNvPr id="33" name="Shape 31"/>
          <p:cNvSpPr/>
          <p:nvPr/>
        </p:nvSpPr>
        <p:spPr>
          <a:xfrm>
            <a:off x="402336" y="340156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6A1B9A"/>
          </a:solidFill>
          <a:ln/>
        </p:spPr>
      </p:sp>
      <p:sp>
        <p:nvSpPr>
          <p:cNvPr id="34" name="Text 32"/>
          <p:cNvSpPr/>
          <p:nvPr/>
        </p:nvSpPr>
        <p:spPr>
          <a:xfrm>
            <a:off x="402336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9536" y="329184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revenue drops 60% from peak months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59536" y="363931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&amp; Aug consistently peak across all categories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18304" y="3236976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18304" y="3236976"/>
            <a:ext cx="54864" cy="822960"/>
          </a:xfrm>
          <a:prstGeom prst="roundRect">
            <a:avLst>
              <a:gd name="adj" fmla="val 83333"/>
            </a:avLst>
          </a:prstGeom>
          <a:solidFill>
            <a:srgbClr val="00695C"/>
          </a:solidFill>
          <a:ln/>
        </p:spPr>
      </p:sp>
      <p:sp>
        <p:nvSpPr>
          <p:cNvPr id="39" name="Shape 37"/>
          <p:cNvSpPr/>
          <p:nvPr/>
        </p:nvSpPr>
        <p:spPr>
          <a:xfrm>
            <a:off x="4828032" y="3401568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00695C"/>
          </a:solidFill>
          <a:ln/>
        </p:spPr>
      </p:sp>
      <p:sp>
        <p:nvSpPr>
          <p:cNvPr id="40" name="Text 38"/>
          <p:cNvSpPr/>
          <p:nvPr/>
        </p:nvSpPr>
        <p:spPr>
          <a:xfrm>
            <a:off x="4828032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285232" y="329184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drives freight (r=0.61) more than price (r=0.41)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85232" y="3639312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weight is primary logistics cost driver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92608" y="4169664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" y="4169664"/>
            <a:ext cx="54864" cy="822960"/>
          </a:xfrm>
          <a:prstGeom prst="roundRect">
            <a:avLst>
              <a:gd name="adj" fmla="val 83333"/>
            </a:avLst>
          </a:prstGeom>
          <a:solidFill>
            <a:srgbClr val="C62828"/>
          </a:solidFill>
          <a:ln/>
        </p:spPr>
      </p:sp>
      <p:sp>
        <p:nvSpPr>
          <p:cNvPr id="45" name="Shape 43"/>
          <p:cNvSpPr/>
          <p:nvPr/>
        </p:nvSpPr>
        <p:spPr>
          <a:xfrm>
            <a:off x="402336" y="433425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C62828"/>
          </a:solidFill>
          <a:ln/>
        </p:spPr>
      </p:sp>
      <p:sp>
        <p:nvSpPr>
          <p:cNvPr id="46" name="Text 44"/>
          <p:cNvSpPr/>
          <p:nvPr/>
        </p:nvSpPr>
        <p:spPr>
          <a:xfrm>
            <a:off x="402336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59536" y="422452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services worst rated at 2.50★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859536" y="45720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2.14pt gap vs best category (cds_dvds 4.64★)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18304" y="4169664"/>
            <a:ext cx="425196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18304" y="4169664"/>
            <a:ext cx="54864" cy="822960"/>
          </a:xfrm>
          <a:prstGeom prst="roundRect">
            <a:avLst>
              <a:gd name="adj" fmla="val 83333"/>
            </a:avLst>
          </a:prstGeom>
          <a:solidFill>
            <a:srgbClr val="1E88E5"/>
          </a:solidFill>
          <a:ln/>
        </p:spPr>
      </p:sp>
      <p:sp>
        <p:nvSpPr>
          <p:cNvPr id="51" name="Shape 49"/>
          <p:cNvSpPr/>
          <p:nvPr/>
        </p:nvSpPr>
        <p:spPr>
          <a:xfrm>
            <a:off x="4828032" y="4334256"/>
            <a:ext cx="365760" cy="365760"/>
          </a:xfrm>
          <a:prstGeom prst="roundRect">
            <a:avLst>
              <a:gd name="adj" fmla="val 17500"/>
            </a:avLst>
          </a:prstGeom>
          <a:solidFill>
            <a:srgbClr val="1E88E5"/>
          </a:solidFill>
          <a:ln/>
        </p:spPr>
      </p:sp>
      <p:sp>
        <p:nvSpPr>
          <p:cNvPr id="52" name="Text 50"/>
          <p:cNvSpPr/>
          <p:nvPr/>
        </p:nvSpPr>
        <p:spPr>
          <a:xfrm>
            <a:off x="4828032" y="43342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285232" y="4224528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installments linked to higher spend (r=0.27)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285232" y="4572000"/>
            <a:ext cx="36027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but significant — EMI promotions can lift AOV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146304"/>
            <a:ext cx="1920240" cy="274320"/>
          </a:xfrm>
          <a:prstGeom prst="roundRect">
            <a:avLst>
              <a:gd name="adj" fmla="val 16667"/>
            </a:avLst>
          </a:prstGeom>
          <a:solidFill>
            <a:srgbClr val="EEF3FB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C62828"/>
                </a:solidFill>
              </a:rPr>
              <a:t>BUSINESS RECOMMENDATIONS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20040" y="475488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Next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9848"/>
            <a:ext cx="850392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15568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Prioritised by business impact  ·  P1 = Urgent  ·  P2 = High  ·  P3 = Medium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2608" y="1389888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2608" y="1389888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C62828"/>
          </a:solidFill>
          <a:ln/>
        </p:spPr>
      </p:sp>
      <p:sp>
        <p:nvSpPr>
          <p:cNvPr id="9" name="Shape 7"/>
          <p:cNvSpPr/>
          <p:nvPr/>
        </p:nvSpPr>
        <p:spPr>
          <a:xfrm>
            <a:off x="402336" y="1481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481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delayed deliveries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931920" y="1481328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1481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02336" y="1773936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delay alerts + compensation vouchers for delayed orders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Reduce delayed orders below 5% from current 8%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18304" y="1389888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18304" y="1389888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E651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828032" y="14813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C62828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14813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48656" y="1463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Brazil logistics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57616" y="1481328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14813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828032" y="1773936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fulfilment centres in RR, AP, AM states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carriers for last-mile delivery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" y="261518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92608" y="2615184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6A1B9A"/>
          </a:solidFill>
          <a:ln/>
        </p:spPr>
      </p:sp>
      <p:sp>
        <p:nvSpPr>
          <p:cNvPr id="25" name="Shape 23"/>
          <p:cNvSpPr/>
          <p:nvPr/>
        </p:nvSpPr>
        <p:spPr>
          <a:xfrm>
            <a:off x="402336" y="2706624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27066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Sep–Oct campaigns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931920" y="270662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6A1B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27066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02336" y="299923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discounts and flash sales during slow season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15-20% extra marketing spend Sep-Oct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18304" y="2615184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18304" y="2615184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1565C0"/>
          </a:solidFill>
          <a:ln/>
        </p:spPr>
      </p:sp>
      <p:sp>
        <p:nvSpPr>
          <p:cNvPr id="33" name="Shape 31"/>
          <p:cNvSpPr/>
          <p:nvPr/>
        </p:nvSpPr>
        <p:spPr>
          <a:xfrm>
            <a:off x="4828032" y="2706624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E65100"/>
          </a:solidFill>
          <a:ln/>
        </p:spPr>
      </p:sp>
      <p:sp>
        <p:nvSpPr>
          <p:cNvPr id="34" name="Text 32"/>
          <p:cNvSpPr/>
          <p:nvPr/>
        </p:nvSpPr>
        <p:spPr>
          <a:xfrm>
            <a:off x="4828032" y="2706624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248656" y="2688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for premium items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357616" y="2706624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57616" y="27066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828032" y="2999232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installment offers on computers &amp; appliances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R$247 vs R$143 avg shows clear opportunity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" y="3840480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92608" y="3840480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00695C"/>
          </a:solidFill>
          <a:ln/>
        </p:spPr>
      </p:sp>
      <p:sp>
        <p:nvSpPr>
          <p:cNvPr id="41" name="Shape 39"/>
          <p:cNvSpPr/>
          <p:nvPr/>
        </p:nvSpPr>
        <p:spPr>
          <a:xfrm>
            <a:off x="402336" y="3931920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7A8FAD"/>
          </a:solidFill>
          <a:ln/>
        </p:spPr>
      </p:sp>
      <p:sp>
        <p:nvSpPr>
          <p:cNvPr id="42" name="Text 40"/>
          <p:cNvSpPr/>
          <p:nvPr/>
        </p:nvSpPr>
        <p:spPr>
          <a:xfrm>
            <a:off x="402336" y="39319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security services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931920" y="393192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0069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931920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02336" y="42245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sellers in security_services (2.50★ avg)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 quality standards or delist underperformers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18304" y="3840480"/>
            <a:ext cx="4251960" cy="1115568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718304" y="3840480"/>
            <a:ext cx="54864" cy="1115568"/>
          </a:xfrm>
          <a:prstGeom prst="roundRect">
            <a:avLst>
              <a:gd name="adj" fmla="val 83333"/>
            </a:avLst>
          </a:prstGeom>
          <a:solidFill>
            <a:srgbClr val="2E7D32"/>
          </a:solidFill>
          <a:ln/>
        </p:spPr>
      </p:sp>
      <p:sp>
        <p:nvSpPr>
          <p:cNvPr id="49" name="Shape 47"/>
          <p:cNvSpPr/>
          <p:nvPr/>
        </p:nvSpPr>
        <p:spPr>
          <a:xfrm>
            <a:off x="4828032" y="3931920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7A8FAD"/>
          </a:solidFill>
          <a:ln/>
        </p:spPr>
      </p:sp>
      <p:sp>
        <p:nvSpPr>
          <p:cNvPr id="50" name="Text 48"/>
          <p:cNvSpPr/>
          <p:nvPr/>
        </p:nvSpPr>
        <p:spPr>
          <a:xfrm>
            <a:off x="4828032" y="3931920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248656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credit card UX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57616" y="3931920"/>
            <a:ext cx="548640" cy="201168"/>
          </a:xfrm>
          <a:prstGeom prst="roundRect">
            <a:avLst>
              <a:gd name="adj" fmla="val 18182"/>
            </a:avLst>
          </a:prstGeom>
          <a:solidFill>
            <a:srgbClr val="EEF3FB"/>
          </a:solidFill>
          <a:ln w="6350">
            <a:solidFill>
              <a:srgbClr val="2E7D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57616" y="39319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risk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28032" y="4224528"/>
            <a:ext cx="40416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dependency = major revenue risk on any payment issues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backup payment methods and reliability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1E88E5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731520"/>
            <a:ext cx="1371600" cy="1371600"/>
          </a:xfrm>
          <a:prstGeom prst="ellipse">
            <a:avLst/>
          </a:prstGeom>
          <a:solidFill>
            <a:srgbClr val="64B5F6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E-Commerce  ·  Exploratory Data Analysis Project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2212848"/>
            <a:ext cx="5486400" cy="0"/>
          </a:xfrm>
          <a:prstGeom prst="line">
            <a:avLst/>
          </a:prstGeom>
          <a:noFill/>
          <a:ln w="1905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" y="2304288"/>
            <a:ext cx="8659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2316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495044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5044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7772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7772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00500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00500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253228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3228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505956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5956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pysentimiento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758684" y="2606040"/>
            <a:ext cx="1143000" cy="329184"/>
          </a:xfrm>
          <a:prstGeom prst="roundRect">
            <a:avLst>
              <a:gd name="adj" fmla="val 19444"/>
            </a:avLst>
          </a:prstGeom>
          <a:solidFill>
            <a:srgbClr val="F4F7FC"/>
          </a:solidFill>
          <a:ln w="10160">
            <a:solidFill>
              <a:srgbClr val="1E88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58684" y="2606040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115,600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82880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664208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64208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1664208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664208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145536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45536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33" name="Text 31"/>
          <p:cNvSpPr/>
          <p:nvPr/>
        </p:nvSpPr>
        <p:spPr>
          <a:xfrm>
            <a:off x="3145536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145536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tested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26864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37" name="Text 35"/>
          <p:cNvSpPr/>
          <p:nvPr/>
        </p:nvSpPr>
        <p:spPr>
          <a:xfrm>
            <a:off x="4626864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4626864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types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08192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08192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41" name="Text 39"/>
          <p:cNvSpPr/>
          <p:nvPr/>
        </p:nvSpPr>
        <p:spPr>
          <a:xfrm>
            <a:off x="6108192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2016–18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108192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589520" y="3127248"/>
            <a:ext cx="1371600" cy="1463040"/>
          </a:xfrm>
          <a:prstGeom prst="roundRect">
            <a:avLst>
              <a:gd name="adj" fmla="val 6667"/>
            </a:avLst>
          </a:prstGeom>
          <a:solidFill>
            <a:srgbClr val="F4F7FC"/>
          </a:solidFill>
          <a:ln/>
          <a:effectLst>
            <a:outerShdw sx="100000" sy="100000" kx="0" ky="0" algn="bl" rotWithShape="0" blurRad="101600" dist="38100" dir="2700000">
              <a:srgbClr val="9DB4D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7589520" y="3127248"/>
            <a:ext cx="1371600" cy="64008"/>
          </a:xfrm>
          <a:prstGeom prst="roundRect">
            <a:avLst>
              <a:gd name="adj" fmla="val 71429"/>
            </a:avLst>
          </a:prstGeom>
          <a:solidFill>
            <a:srgbClr val="1565C0"/>
          </a:solidFill>
          <a:ln/>
        </p:spPr>
      </p:sp>
      <p:sp>
        <p:nvSpPr>
          <p:cNvPr id="45" name="Text 43"/>
          <p:cNvSpPr/>
          <p:nvPr/>
        </p:nvSpPr>
        <p:spPr>
          <a:xfrm>
            <a:off x="7589520" y="3246120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48,613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589520" y="3858768"/>
            <a:ext cx="1371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Olist E-Commerce EDA</dc:title>
  <dc:subject>PptxGenJS Presentation</dc:subject>
  <dc:creator>PptxGenJS</dc:creator>
  <cp:lastModifiedBy>PptxGenJS</cp:lastModifiedBy>
  <cp:revision>1</cp:revision>
  <dcterms:created xsi:type="dcterms:W3CDTF">2026-06-14T05:19:34Z</dcterms:created>
  <dcterms:modified xsi:type="dcterms:W3CDTF">2026-06-14T05:19:34Z</dcterms:modified>
</cp:coreProperties>
</file>